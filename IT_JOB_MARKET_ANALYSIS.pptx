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25"/>
  </p:notesMasterIdLst>
  <p:sldIdLst>
    <p:sldId id="264" r:id="rId2"/>
    <p:sldId id="330" r:id="rId3"/>
    <p:sldId id="326" r:id="rId4"/>
    <p:sldId id="328" r:id="rId5"/>
    <p:sldId id="299" r:id="rId6"/>
    <p:sldId id="332" r:id="rId7"/>
    <p:sldId id="303" r:id="rId8"/>
    <p:sldId id="313" r:id="rId9"/>
    <p:sldId id="304" r:id="rId10"/>
    <p:sldId id="267" r:id="rId11"/>
    <p:sldId id="314" r:id="rId12"/>
    <p:sldId id="315" r:id="rId13"/>
    <p:sldId id="316" r:id="rId14"/>
    <p:sldId id="333" r:id="rId15"/>
    <p:sldId id="318" r:id="rId16"/>
    <p:sldId id="317" r:id="rId17"/>
    <p:sldId id="319" r:id="rId18"/>
    <p:sldId id="320" r:id="rId19"/>
    <p:sldId id="335" r:id="rId20"/>
    <p:sldId id="321" r:id="rId21"/>
    <p:sldId id="336" r:id="rId22"/>
    <p:sldId id="323" r:id="rId23"/>
    <p:sldId id="32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p:scale>
          <a:sx n="75" d="100"/>
          <a:sy n="75" d="100"/>
        </p:scale>
        <p:origin x="1128"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96637B-7D86-4A0B-BDF8-3C5415C08685}" type="datetimeFigureOut">
              <a:rPr lang="en-IN" smtClean="0"/>
              <a:t>12-03-2026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59B6F2-3205-48B3-84A8-110D72A57A08}" type="slidenum">
              <a:rPr lang="en-IN" smtClean="0"/>
              <a:t>‹#›</a:t>
            </a:fld>
            <a:endParaRPr lang="en-IN"/>
          </a:p>
        </p:txBody>
      </p:sp>
    </p:spTree>
    <p:extLst>
      <p:ext uri="{BB962C8B-B14F-4D97-AF65-F5344CB8AC3E}">
        <p14:creationId xmlns:p14="http://schemas.microsoft.com/office/powerpoint/2010/main" val="4131062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2240112-BD17-4252-1CD0-7EC9C202495A}"/>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F44EE269-3DE3-2205-08D2-1C9879D1DFB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a:extLst>
              <a:ext uri="{FF2B5EF4-FFF2-40B4-BE49-F238E27FC236}">
                <a16:creationId xmlns:a16="http://schemas.microsoft.com/office/drawing/2014/main" id="{03942777-AA50-D1E9-29DE-DBCB4DB580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8102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07962-C624-F3E7-ABE3-494FF98D1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65BBC9-7778-DE4E-4631-AF21607D1D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D74EFE-792B-FC75-8CF7-A777F83C8B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0EFF22-CF07-9FF6-8544-88043DC01A94}"/>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18662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94AB0-564A-CFAF-AA12-2644F79A15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73248-8EE9-5E7D-ECB0-50B5970132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98AA83-A9E2-DD93-1782-FBC030C1A6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FB536A-F3C8-A929-5504-5398E0E4537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501932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EF0E4-389B-11D9-649B-A687EBD4A3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DF4D4-0272-D93A-1F61-3F56D9CF4A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88ED21-349F-34A1-A1EA-257AA774A6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5669E8-BC31-2832-3E74-8CD3771C061E}"/>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043993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438D4234-346E-A8E6-092F-D975FD63848B}"/>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1FFC5BA9-659C-B35E-CE61-EA948DFE0AB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a:extLst>
              <a:ext uri="{FF2B5EF4-FFF2-40B4-BE49-F238E27FC236}">
                <a16:creationId xmlns:a16="http://schemas.microsoft.com/office/drawing/2014/main" id="{5729FD0C-470B-3744-59CA-F4D16F6A42C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968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9BFECB4-DADD-1FBE-1FC0-060C44B9DFB3}"/>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C9B1C535-263B-06CE-E2A7-7EACD45472F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a:extLst>
              <a:ext uri="{FF2B5EF4-FFF2-40B4-BE49-F238E27FC236}">
                <a16:creationId xmlns:a16="http://schemas.microsoft.com/office/drawing/2014/main" id="{68648AD0-4C43-E5F0-5AFD-A41A1E3D0C9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9866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E70E7DE-BE68-3665-D458-1053036E826D}"/>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F9A0B5FC-740C-3A13-833D-B8CF2F23703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a:extLst>
              <a:ext uri="{FF2B5EF4-FFF2-40B4-BE49-F238E27FC236}">
                <a16:creationId xmlns:a16="http://schemas.microsoft.com/office/drawing/2014/main" id="{84C3E49C-1574-B700-1CC3-9E59DC994F0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9528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BB8C0C3-5FD4-E0BE-6044-8C04BB22E501}"/>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8883E077-B997-4B10-2F27-877430734A7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a:extLst>
              <a:ext uri="{FF2B5EF4-FFF2-40B4-BE49-F238E27FC236}">
                <a16:creationId xmlns:a16="http://schemas.microsoft.com/office/drawing/2014/main" id="{89678C77-833F-63A5-2D94-F097DA6990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5326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D1E3BCC-9ECF-8AFD-73E0-D2BC5579593B}"/>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9DD1486A-1D4B-5300-431A-D33F3B7FB59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a:extLst>
              <a:ext uri="{FF2B5EF4-FFF2-40B4-BE49-F238E27FC236}">
                <a16:creationId xmlns:a16="http://schemas.microsoft.com/office/drawing/2014/main" id="{C27765FE-A7D2-2B78-6E7D-9C5048E1E7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832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87902619-493E-AB1F-D075-226F05501024}"/>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E2614E8C-8662-F4E8-284D-4ED7B02BC4C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a:extLst>
              <a:ext uri="{FF2B5EF4-FFF2-40B4-BE49-F238E27FC236}">
                <a16:creationId xmlns:a16="http://schemas.microsoft.com/office/drawing/2014/main" id="{F3C5A8BC-0C72-686E-94DB-EE61578D2C3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96093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9F4E29D-9538-462A-CF39-959804A2640B}"/>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8EAA74E0-8FF2-B9BC-8A52-7DB8CAE0168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a:extLst>
              <a:ext uri="{FF2B5EF4-FFF2-40B4-BE49-F238E27FC236}">
                <a16:creationId xmlns:a16="http://schemas.microsoft.com/office/drawing/2014/main" id="{CEB994F7-991D-3C4F-91F0-6A8555A1D6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58296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6E3B7F8-2144-C539-9D9E-9F32BC1D45AF}"/>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67D7E420-4C65-89F4-838B-32B49E348B6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a:extLst>
              <a:ext uri="{FF2B5EF4-FFF2-40B4-BE49-F238E27FC236}">
                <a16:creationId xmlns:a16="http://schemas.microsoft.com/office/drawing/2014/main" id="{986DA630-AFC1-A5E9-4CF7-6DFAB0F3F9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04616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22F865A-7C69-AA6B-891E-8B69C8B7DA16}"/>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EB31B577-D448-982E-727F-2CD1FC0A554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a:extLst>
              <a:ext uri="{FF2B5EF4-FFF2-40B4-BE49-F238E27FC236}">
                <a16:creationId xmlns:a16="http://schemas.microsoft.com/office/drawing/2014/main" id="{35F0F673-7696-9032-B315-E9F01AD9702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8770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B9FF9A1-C8C6-5E1E-379B-CD992A1CD419}"/>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9894DD0E-002E-E0DD-DFA5-57F6C5BC8E4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a:extLst>
              <a:ext uri="{FF2B5EF4-FFF2-40B4-BE49-F238E27FC236}">
                <a16:creationId xmlns:a16="http://schemas.microsoft.com/office/drawing/2014/main" id="{29C8DDB8-7132-4F38-0957-641F236F9BF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27472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E7B6E72-9CEB-2F8C-55F9-CE30973070D9}"/>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1535B5FA-9DBC-6AE3-BC5F-383B8A44F9F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a:extLst>
              <a:ext uri="{FF2B5EF4-FFF2-40B4-BE49-F238E27FC236}">
                <a16:creationId xmlns:a16="http://schemas.microsoft.com/office/drawing/2014/main" id="{F1562F30-B17B-7C6F-0B35-E28D9FA77A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70827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4937350B-E4B3-264F-5115-C5FC74DDC3D8}"/>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778C8853-830F-98AD-B9B6-D485506F67F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a:extLst>
              <a:ext uri="{FF2B5EF4-FFF2-40B4-BE49-F238E27FC236}">
                <a16:creationId xmlns:a16="http://schemas.microsoft.com/office/drawing/2014/main" id="{7B2D3F24-1F2E-7CED-95C3-3B5393D06F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70612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27B22C5-258A-F3B3-2318-7FD6E0BBDEC8}"/>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93D12E2A-BACB-CF35-08EA-69DEED225A8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a:extLst>
              <a:ext uri="{FF2B5EF4-FFF2-40B4-BE49-F238E27FC236}">
                <a16:creationId xmlns:a16="http://schemas.microsoft.com/office/drawing/2014/main" id="{C61A9BA8-A8EE-D08C-E99E-9E1AD390C9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44745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DDCDDC-88BC-4790-88A6-A3602EED3A1D}" type="datetimeFigureOut">
              <a:rPr lang="en-IN" smtClean="0"/>
              <a:t>12-03-2026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2B0CD2-2956-4D89-8FB3-96FB5266974B}" type="slidenum">
              <a:rPr lang="en-IN" smtClean="0"/>
              <a:t>‹#›</a:t>
            </a:fld>
            <a:endParaRPr lang="en-IN"/>
          </a:p>
        </p:txBody>
      </p:sp>
    </p:spTree>
    <p:extLst>
      <p:ext uri="{BB962C8B-B14F-4D97-AF65-F5344CB8AC3E}">
        <p14:creationId xmlns:p14="http://schemas.microsoft.com/office/powerpoint/2010/main" val="3304209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DDCDDC-88BC-4790-88A6-A3602EED3A1D}" type="datetimeFigureOut">
              <a:rPr lang="en-IN" smtClean="0"/>
              <a:t>12-03-2026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2B0CD2-2956-4D89-8FB3-96FB5266974B}" type="slidenum">
              <a:rPr lang="en-IN" smtClean="0"/>
              <a:t>‹#›</a:t>
            </a:fld>
            <a:endParaRPr lang="en-IN"/>
          </a:p>
        </p:txBody>
      </p:sp>
    </p:spTree>
    <p:extLst>
      <p:ext uri="{BB962C8B-B14F-4D97-AF65-F5344CB8AC3E}">
        <p14:creationId xmlns:p14="http://schemas.microsoft.com/office/powerpoint/2010/main" val="4070350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DDCDDC-88BC-4790-88A6-A3602EED3A1D}" type="datetimeFigureOut">
              <a:rPr lang="en-IN" smtClean="0"/>
              <a:t>12-03-2026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2B0CD2-2956-4D89-8FB3-96FB5266974B}" type="slidenum">
              <a:rPr lang="en-IN" smtClean="0"/>
              <a:t>‹#›</a:t>
            </a:fld>
            <a:endParaRPr lang="en-IN"/>
          </a:p>
        </p:txBody>
      </p:sp>
    </p:spTree>
    <p:extLst>
      <p:ext uri="{BB962C8B-B14F-4D97-AF65-F5344CB8AC3E}">
        <p14:creationId xmlns:p14="http://schemas.microsoft.com/office/powerpoint/2010/main" val="3513882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7DDCDDC-88BC-4790-88A6-A3602EED3A1D}" type="datetimeFigureOut">
              <a:rPr lang="en-IN" smtClean="0"/>
              <a:t>12-03-2026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2B0CD2-2956-4D89-8FB3-96FB5266974B}" type="slidenum">
              <a:rPr lang="en-IN" smtClean="0"/>
              <a:t>‹#›</a:t>
            </a:fld>
            <a:endParaRPr lang="en-IN"/>
          </a:p>
        </p:txBody>
      </p:sp>
    </p:spTree>
    <p:extLst>
      <p:ext uri="{BB962C8B-B14F-4D97-AF65-F5344CB8AC3E}">
        <p14:creationId xmlns:p14="http://schemas.microsoft.com/office/powerpoint/2010/main" val="3517671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DDCDDC-88BC-4790-88A6-A3602EED3A1D}" type="datetimeFigureOut">
              <a:rPr lang="en-IN" smtClean="0"/>
              <a:t>12-03-2026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D2B0CD2-2956-4D89-8FB3-96FB5266974B}" type="slidenum">
              <a:rPr lang="en-IN" smtClean="0"/>
              <a:t>‹#›</a:t>
            </a:fld>
            <a:endParaRPr lang="en-IN"/>
          </a:p>
        </p:txBody>
      </p:sp>
    </p:spTree>
    <p:extLst>
      <p:ext uri="{BB962C8B-B14F-4D97-AF65-F5344CB8AC3E}">
        <p14:creationId xmlns:p14="http://schemas.microsoft.com/office/powerpoint/2010/main" val="3857390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DDCDDC-88BC-4790-88A6-A3602EED3A1D}" type="datetimeFigureOut">
              <a:rPr lang="en-IN" smtClean="0"/>
              <a:t>12-03-2026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D2B0CD2-2956-4D89-8FB3-96FB5266974B}" type="slidenum">
              <a:rPr lang="en-IN" smtClean="0"/>
              <a:t>‹#›</a:t>
            </a:fld>
            <a:endParaRPr lang="en-IN"/>
          </a:p>
        </p:txBody>
      </p:sp>
    </p:spTree>
    <p:extLst>
      <p:ext uri="{BB962C8B-B14F-4D97-AF65-F5344CB8AC3E}">
        <p14:creationId xmlns:p14="http://schemas.microsoft.com/office/powerpoint/2010/main" val="94771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DDCDDC-88BC-4790-88A6-A3602EED3A1D}" type="datetimeFigureOut">
              <a:rPr lang="en-IN" smtClean="0"/>
              <a:t>12-03-2026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D2B0CD2-2956-4D89-8FB3-96FB5266974B}" type="slidenum">
              <a:rPr lang="en-IN" smtClean="0"/>
              <a:t>‹#›</a:t>
            </a:fld>
            <a:endParaRPr lang="en-IN"/>
          </a:p>
        </p:txBody>
      </p:sp>
    </p:spTree>
    <p:extLst>
      <p:ext uri="{BB962C8B-B14F-4D97-AF65-F5344CB8AC3E}">
        <p14:creationId xmlns:p14="http://schemas.microsoft.com/office/powerpoint/2010/main" val="4197889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DDCDDC-88BC-4790-88A6-A3602EED3A1D}" type="datetimeFigureOut">
              <a:rPr lang="en-IN" smtClean="0"/>
              <a:t>12-03-2026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2B0CD2-2956-4D89-8FB3-96FB5266974B}" type="slidenum">
              <a:rPr lang="en-IN" smtClean="0"/>
              <a:t>‹#›</a:t>
            </a:fld>
            <a:endParaRPr lang="en-IN"/>
          </a:p>
        </p:txBody>
      </p:sp>
    </p:spTree>
    <p:extLst>
      <p:ext uri="{BB962C8B-B14F-4D97-AF65-F5344CB8AC3E}">
        <p14:creationId xmlns:p14="http://schemas.microsoft.com/office/powerpoint/2010/main" val="1333568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DDCDDC-88BC-4790-88A6-A3602EED3A1D}" type="datetimeFigureOut">
              <a:rPr lang="en-IN" smtClean="0"/>
              <a:t>12-03-2026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2B0CD2-2956-4D89-8FB3-96FB5266974B}" type="slidenum">
              <a:rPr lang="en-IN" smtClean="0"/>
              <a:t>‹#›</a:t>
            </a:fld>
            <a:endParaRPr lang="en-IN"/>
          </a:p>
        </p:txBody>
      </p:sp>
    </p:spTree>
    <p:extLst>
      <p:ext uri="{BB962C8B-B14F-4D97-AF65-F5344CB8AC3E}">
        <p14:creationId xmlns:p14="http://schemas.microsoft.com/office/powerpoint/2010/main" val="1683843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DDCDDC-88BC-4790-88A6-A3602EED3A1D}" type="datetimeFigureOut">
              <a:rPr lang="en-IN" smtClean="0"/>
              <a:t>12-03-2026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2B0CD2-2956-4D89-8FB3-96FB5266974B}" type="slidenum">
              <a:rPr lang="en-IN" smtClean="0"/>
              <a:t>‹#›</a:t>
            </a:fld>
            <a:endParaRPr lang="en-IN"/>
          </a:p>
        </p:txBody>
      </p:sp>
    </p:spTree>
    <p:extLst>
      <p:ext uri="{BB962C8B-B14F-4D97-AF65-F5344CB8AC3E}">
        <p14:creationId xmlns:p14="http://schemas.microsoft.com/office/powerpoint/2010/main" val="399923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DDCDDC-88BC-4790-88A6-A3602EED3A1D}" type="datetimeFigureOut">
              <a:rPr lang="en-IN" smtClean="0"/>
              <a:t>12-03-2026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2B0CD2-2956-4D89-8FB3-96FB5266974B}" type="slidenum">
              <a:rPr lang="en-IN" smtClean="0"/>
              <a:t>‹#›</a:t>
            </a:fld>
            <a:endParaRPr lang="en-IN"/>
          </a:p>
        </p:txBody>
      </p:sp>
    </p:spTree>
    <p:extLst>
      <p:ext uri="{BB962C8B-B14F-4D97-AF65-F5344CB8AC3E}">
        <p14:creationId xmlns:p14="http://schemas.microsoft.com/office/powerpoint/2010/main" val="185364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7634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DDCDDC-88BC-4790-88A6-A3602EED3A1D}" type="datetimeFigureOut">
              <a:rPr lang="en-IN" smtClean="0"/>
              <a:t>12-03-2026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2B0CD2-2956-4D89-8FB3-96FB5266974B}" type="slidenum">
              <a:rPr lang="en-IN" smtClean="0"/>
              <a:t>‹#›</a:t>
            </a:fld>
            <a:endParaRPr lang="en-IN"/>
          </a:p>
        </p:txBody>
      </p:sp>
    </p:spTree>
    <p:extLst>
      <p:ext uri="{BB962C8B-B14F-4D97-AF65-F5344CB8AC3E}">
        <p14:creationId xmlns:p14="http://schemas.microsoft.com/office/powerpoint/2010/main" val="2816514271"/>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b="58717"/>
          <a:stretch/>
        </p:blipFill>
        <p:spPr>
          <a:xfrm>
            <a:off x="0" y="-314960"/>
            <a:ext cx="12190815" cy="2763520"/>
          </a:xfrm>
          <a:prstGeom prst="rect">
            <a:avLst/>
          </a:prstGeom>
          <a:noFill/>
          <a:ln>
            <a:noFill/>
          </a:ln>
        </p:spPr>
      </p:pic>
      <p:sp>
        <p:nvSpPr>
          <p:cNvPr id="99" name="Google Shape;99;p1"/>
          <p:cNvSpPr txBox="1"/>
          <p:nvPr/>
        </p:nvSpPr>
        <p:spPr>
          <a:xfrm>
            <a:off x="2845923" y="2787076"/>
            <a:ext cx="6498968" cy="1077178"/>
          </a:xfrm>
          <a:prstGeom prst="rect">
            <a:avLst/>
          </a:prstGeom>
          <a:noFill/>
          <a:ln>
            <a:noFill/>
          </a:ln>
        </p:spPr>
        <p:txBody>
          <a:bodyPr spcFirstLastPara="1" wrap="square" lIns="91425" tIns="45700" rIns="91425" bIns="45700" anchor="t" anchorCtr="0">
            <a:spAutoFit/>
          </a:bodyPr>
          <a:lstStyle/>
          <a:p>
            <a:pPr lvl="0" algn="ctr"/>
            <a:r>
              <a:rPr lang="en-US" sz="3200" b="1" u="sng" dirty="0">
                <a:solidFill>
                  <a:srgbClr val="FF0000"/>
                </a:solidFill>
                <a:latin typeface="Times New Roman" panose="02020603050405020304" pitchFamily="18" charset="0"/>
                <a:ea typeface="Calibri"/>
                <a:cs typeface="Times New Roman" panose="02020603050405020304" pitchFamily="18" charset="0"/>
                <a:sym typeface="Calibri"/>
              </a:rPr>
              <a:t>IT Job Market Analysis</a:t>
            </a:r>
          </a:p>
          <a:p>
            <a:pPr algn="ctr"/>
            <a:r>
              <a:rPr lang="en-IN" sz="3200" b="1" dirty="0">
                <a:latin typeface="Times New Roman" panose="02020603050405020304" pitchFamily="18" charset="0"/>
                <a:ea typeface="Calibri"/>
                <a:cs typeface="Times New Roman" panose="02020603050405020304" pitchFamily="18" charset="0"/>
                <a:sym typeface="Calibri"/>
              </a:rPr>
              <a:t>Using Web Scraping</a:t>
            </a:r>
            <a:endParaRPr lang="en-IN" sz="3200" b="1" u="sng" dirty="0">
              <a:solidFill>
                <a:srgbClr val="FF0000"/>
              </a:solidFill>
              <a:latin typeface="Times New Roman" panose="02020603050405020304" pitchFamily="18" charset="0"/>
              <a:ea typeface="Calibri"/>
              <a:cs typeface="Times New Roman" panose="02020603050405020304" pitchFamily="18" charset="0"/>
              <a:sym typeface="Calibri"/>
            </a:endParaRPr>
          </a:p>
        </p:txBody>
      </p:sp>
      <p:sp>
        <p:nvSpPr>
          <p:cNvPr id="2" name="TextBox 1">
            <a:extLst>
              <a:ext uri="{FF2B5EF4-FFF2-40B4-BE49-F238E27FC236}">
                <a16:creationId xmlns:a16="http://schemas.microsoft.com/office/drawing/2014/main" id="{78BF12F8-D91C-D400-1A9E-FFB486D7FCF3}"/>
              </a:ext>
            </a:extLst>
          </p:cNvPr>
          <p:cNvSpPr txBox="1"/>
          <p:nvPr/>
        </p:nvSpPr>
        <p:spPr>
          <a:xfrm>
            <a:off x="424716" y="4278936"/>
            <a:ext cx="3657600" cy="1575881"/>
          </a:xfrm>
          <a:prstGeom prst="rect">
            <a:avLst/>
          </a:prstGeom>
          <a:noFill/>
        </p:spPr>
        <p:txBody>
          <a:bodyPr wrap="square" rtlCol="0">
            <a:spAutoFit/>
          </a:bodyPr>
          <a:lstStyle/>
          <a:p>
            <a:r>
              <a:rPr lang="en-IN" sz="2000" b="1" u="sng" dirty="0">
                <a:solidFill>
                  <a:srgbClr val="FF0000"/>
                </a:solidFill>
                <a:latin typeface="Times New Roman" panose="02020603050405020304" pitchFamily="18" charset="0"/>
                <a:cs typeface="Times New Roman" panose="02020603050405020304" pitchFamily="18" charset="0"/>
              </a:rPr>
              <a:t>Presented by:</a:t>
            </a:r>
          </a:p>
          <a:p>
            <a:r>
              <a:rPr lang="en-IN" sz="2000" dirty="0">
                <a:latin typeface="Times New Roman" panose="02020603050405020304" pitchFamily="18" charset="0"/>
                <a:cs typeface="Times New Roman" panose="02020603050405020304" pitchFamily="18" charset="0"/>
              </a:rPr>
              <a:t>Guru Preeth Reddy</a:t>
            </a:r>
          </a:p>
          <a:p>
            <a:pPr>
              <a:lnSpc>
                <a:spcPct val="150000"/>
              </a:lnSpc>
            </a:pPr>
            <a:r>
              <a:rPr lang="en-IN" sz="2000" dirty="0">
                <a:latin typeface="Times New Roman" panose="02020603050405020304" pitchFamily="18" charset="0"/>
                <a:cs typeface="Times New Roman" panose="02020603050405020304" pitchFamily="18" charset="0"/>
              </a:rPr>
              <a:t>Saisree</a:t>
            </a:r>
          </a:p>
          <a:p>
            <a:pPr>
              <a:lnSpc>
                <a:spcPct val="150000"/>
              </a:lnSpc>
            </a:pPr>
            <a:r>
              <a:rPr lang="en-IN" sz="2000" dirty="0">
                <a:latin typeface="Times New Roman" panose="02020603050405020304" pitchFamily="18" charset="0"/>
                <a:cs typeface="Times New Roman" panose="02020603050405020304" pitchFamily="18" charset="0"/>
              </a:rPr>
              <a:t>Hari Krishna</a:t>
            </a:r>
          </a:p>
        </p:txBody>
      </p:sp>
      <p:pic>
        <p:nvPicPr>
          <p:cNvPr id="5" name="Picture 4">
            <a:extLst>
              <a:ext uri="{FF2B5EF4-FFF2-40B4-BE49-F238E27FC236}">
                <a16:creationId xmlns:a16="http://schemas.microsoft.com/office/drawing/2014/main" id="{FAB1487B-FAD2-8BB5-6F00-ED1939E351F8}"/>
              </a:ext>
            </a:extLst>
          </p:cNvPr>
          <p:cNvPicPr>
            <a:picLocks noChangeAspect="1"/>
          </p:cNvPicPr>
          <p:nvPr/>
        </p:nvPicPr>
        <p:blipFill>
          <a:blip r:embed="rId4"/>
          <a:stretch>
            <a:fillRect/>
          </a:stretch>
        </p:blipFill>
        <p:spPr>
          <a:xfrm>
            <a:off x="8852630" y="6017058"/>
            <a:ext cx="3338185" cy="7231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80664E4-C1DE-C37E-9960-501D3EE4002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D059535-E354-C87C-58B4-0DA793588DC8}"/>
              </a:ext>
            </a:extLst>
          </p:cNvPr>
          <p:cNvSpPr txBox="1"/>
          <p:nvPr/>
        </p:nvSpPr>
        <p:spPr>
          <a:xfrm>
            <a:off x="562383" y="1382749"/>
            <a:ext cx="10976809" cy="4031873"/>
          </a:xfrm>
          <a:prstGeom prst="rect">
            <a:avLst/>
          </a:prstGeom>
          <a:noFill/>
        </p:spPr>
        <p:txBody>
          <a:bodyPr wrap="square">
            <a:spAutoFit/>
          </a:bodyPr>
          <a:lstStyle/>
          <a:p>
            <a:pPr algn="just">
              <a:buNone/>
            </a:pPr>
            <a:endParaRPr lang="en-US" sz="2000" b="1" dirty="0">
              <a:solidFill>
                <a:srgbClr val="FF000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IT job market is continuously evolving with changing demand for skills, experience, and technologies</a:t>
            </a:r>
            <a:r>
              <a:rPr lang="en-US" sz="2400" dirty="0"/>
              <a:t>.</a:t>
            </a:r>
          </a:p>
          <a:p>
            <a:pPr algn="just"/>
            <a:endParaRPr lang="en-US" sz="2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However, analyzing job market trends manually is difficult because thousands of job postings are spread across online platforms</a:t>
            </a:r>
            <a:r>
              <a:rPr lang="en-US" sz="2400" dirty="0"/>
              <a:t>.</a:t>
            </a:r>
          </a:p>
          <a:p>
            <a:pPr algn="just"/>
            <a:endParaRPr lang="en-US" sz="2400" dirty="0"/>
          </a:p>
          <a:p>
            <a:pPr marL="285750" indent="-285750"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This project aims to analyze IT job market trends by collecting job listing data through web scraping and performing data analysis to identify patterns in skills demand, salary distribution, experience requirements, and hiring locations.</a:t>
            </a:r>
          </a:p>
          <a:p>
            <a:pPr algn="just"/>
            <a:r>
              <a:rPr lang="en-US" sz="2000" dirty="0">
                <a:latin typeface="Times New Roman" panose="02020603050405020304" pitchFamily="18" charset="0"/>
                <a:cs typeface="Times New Roman" panose="02020603050405020304" pitchFamily="18" charset="0"/>
              </a:rPr>
              <a:t> </a:t>
            </a:r>
          </a:p>
        </p:txBody>
      </p:sp>
      <p:pic>
        <p:nvPicPr>
          <p:cNvPr id="2" name="Picture 1">
            <a:extLst>
              <a:ext uri="{FF2B5EF4-FFF2-40B4-BE49-F238E27FC236}">
                <a16:creationId xmlns:a16="http://schemas.microsoft.com/office/drawing/2014/main" id="{4CBBDDB4-C338-2BE8-C18E-5BC28DCE8605}"/>
              </a:ext>
            </a:extLst>
          </p:cNvPr>
          <p:cNvPicPr>
            <a:picLocks noChangeAspect="1"/>
          </p:cNvPicPr>
          <p:nvPr/>
        </p:nvPicPr>
        <p:blipFill>
          <a:blip r:embed="rId2"/>
          <a:stretch>
            <a:fillRect/>
          </a:stretch>
        </p:blipFill>
        <p:spPr>
          <a:xfrm>
            <a:off x="8852630" y="6017058"/>
            <a:ext cx="3338185" cy="723108"/>
          </a:xfrm>
          <a:prstGeom prst="rect">
            <a:avLst/>
          </a:prstGeom>
        </p:spPr>
      </p:pic>
      <p:sp>
        <p:nvSpPr>
          <p:cNvPr id="3" name="Text 12">
            <a:extLst>
              <a:ext uri="{FF2B5EF4-FFF2-40B4-BE49-F238E27FC236}">
                <a16:creationId xmlns:a16="http://schemas.microsoft.com/office/drawing/2014/main" id="{FE09BBF1-A7FF-B780-2F0A-9C4E4BF72748}"/>
              </a:ext>
            </a:extLst>
          </p:cNvPr>
          <p:cNvSpPr/>
          <p:nvPr/>
        </p:nvSpPr>
        <p:spPr>
          <a:xfrm>
            <a:off x="652807" y="899806"/>
            <a:ext cx="7623927" cy="520171"/>
          </a:xfrm>
          <a:prstGeom prst="rect">
            <a:avLst/>
          </a:prstGeom>
          <a:noFill/>
          <a:ln/>
        </p:spPr>
        <p:txBody>
          <a:bodyPr wrap="square" rtlCol="0" anchor="ctr"/>
          <a:lstStyle/>
          <a:p>
            <a:pPr marL="0" indent="0">
              <a:buNone/>
            </a:pPr>
            <a:endParaRPr lang="en-US" sz="2000" b="1" dirty="0">
              <a:solidFill>
                <a:srgbClr val="FF0000"/>
              </a:solidFill>
              <a:latin typeface="Times New Roman" panose="02020603050405020304" pitchFamily="18" charset="0"/>
              <a:ea typeface="Calibri" pitchFamily="34" charset="-122"/>
              <a:cs typeface="Times New Roman" panose="02020603050405020304" pitchFamily="18" charset="0"/>
            </a:endParaRPr>
          </a:p>
        </p:txBody>
      </p:sp>
      <p:sp>
        <p:nvSpPr>
          <p:cNvPr id="4" name="Shape 0">
            <a:extLst>
              <a:ext uri="{FF2B5EF4-FFF2-40B4-BE49-F238E27FC236}">
                <a16:creationId xmlns:a16="http://schemas.microsoft.com/office/drawing/2014/main" id="{6235ED97-9C5E-C55D-5547-7918ED152CB2}"/>
              </a:ext>
            </a:extLst>
          </p:cNvPr>
          <p:cNvSpPr/>
          <p:nvPr/>
        </p:nvSpPr>
        <p:spPr>
          <a:xfrm>
            <a:off x="-1" y="-9922"/>
            <a:ext cx="12190815" cy="1219200"/>
          </a:xfrm>
          <a:prstGeom prst="rect">
            <a:avLst/>
          </a:prstGeom>
          <a:solidFill>
            <a:srgbClr val="0D2137"/>
          </a:solidFill>
          <a:ln w="12700">
            <a:solidFill>
              <a:srgbClr val="0D2137"/>
            </a:solidFill>
            <a:prstDash val="solid"/>
          </a:ln>
        </p:spPr>
        <p:txBody>
          <a:bodyPr/>
          <a:lstStyle/>
          <a:p>
            <a:endParaRPr lang="en-US"/>
          </a:p>
        </p:txBody>
      </p:sp>
      <p:sp>
        <p:nvSpPr>
          <p:cNvPr id="5" name="TextBox 4">
            <a:extLst>
              <a:ext uri="{FF2B5EF4-FFF2-40B4-BE49-F238E27FC236}">
                <a16:creationId xmlns:a16="http://schemas.microsoft.com/office/drawing/2014/main" id="{428861EB-3B50-01FE-05A2-1E26FEDAB6A6}"/>
              </a:ext>
            </a:extLst>
          </p:cNvPr>
          <p:cNvSpPr txBox="1"/>
          <p:nvPr/>
        </p:nvSpPr>
        <p:spPr>
          <a:xfrm>
            <a:off x="454859" y="266510"/>
            <a:ext cx="6519672" cy="666336"/>
          </a:xfrm>
          <a:prstGeom prst="rect">
            <a:avLst/>
          </a:prstGeom>
          <a:noFill/>
        </p:spPr>
        <p:txBody>
          <a:bodyPr wrap="square" rtlCol="0">
            <a:spAutoFit/>
          </a:bodyPr>
          <a:lstStyle/>
          <a:p>
            <a:r>
              <a:rPr lang="en-US" sz="3730" dirty="0">
                <a:solidFill>
                  <a:schemeClr val="bg1"/>
                </a:solidFill>
                <a:latin typeface="Times New Roman" panose="02020603050405020304" pitchFamily="18" charset="0"/>
                <a:cs typeface="Times New Roman" panose="02020603050405020304" pitchFamily="18" charset="0"/>
              </a:rPr>
              <a:t>Problem Statement</a:t>
            </a:r>
          </a:p>
        </p:txBody>
      </p:sp>
    </p:spTree>
    <p:extLst>
      <p:ext uri="{BB962C8B-B14F-4D97-AF65-F5344CB8AC3E}">
        <p14:creationId xmlns:p14="http://schemas.microsoft.com/office/powerpoint/2010/main" val="1222818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9DA060-383C-5D2D-7435-7B33B7B35CD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7AAB8C5-2B15-71AA-8CB2-854CF62154A5}"/>
              </a:ext>
            </a:extLst>
          </p:cNvPr>
          <p:cNvSpPr txBox="1"/>
          <p:nvPr/>
        </p:nvSpPr>
        <p:spPr>
          <a:xfrm>
            <a:off x="553240" y="1024552"/>
            <a:ext cx="7322792" cy="707886"/>
          </a:xfrm>
          <a:prstGeom prst="rect">
            <a:avLst/>
          </a:prstGeom>
          <a:noFill/>
        </p:spPr>
        <p:txBody>
          <a:bodyPr wrap="square">
            <a:spAutoFit/>
          </a:bodyPr>
          <a:lstStyle/>
          <a:p>
            <a:pPr marL="0" indent="0">
              <a:buNone/>
            </a:pPr>
            <a:endParaRPr lang="en-US" sz="2000" b="1" dirty="0">
              <a:solidFill>
                <a:srgbClr val="FF0000"/>
              </a:solidFill>
              <a:latin typeface="Times New Roman" panose="02020603050405020304" pitchFamily="18" charset="0"/>
              <a:ea typeface="Calibri" pitchFamily="34" charset="-122"/>
              <a:cs typeface="Times New Roman" panose="02020603050405020304" pitchFamily="18" charset="0"/>
            </a:endParaRPr>
          </a:p>
          <a:p>
            <a:r>
              <a:rPr lang="en-US" sz="2000" b="1" dirty="0">
                <a:solidFill>
                  <a:srgbClr val="FF0000"/>
                </a:solidFill>
                <a:latin typeface="Times New Roman" panose="02020603050405020304" pitchFamily="18" charset="0"/>
                <a:ea typeface="Calibri" pitchFamily="34" charset="-122"/>
                <a:cs typeface="Times New Roman" panose="02020603050405020304" pitchFamily="18" charset="0"/>
              </a:rPr>
              <a:t>Data Source</a:t>
            </a:r>
            <a:r>
              <a:rPr lang="en-US" sz="2000" b="1" dirty="0">
                <a:latin typeface="Times New Roman" panose="02020603050405020304" pitchFamily="18" charset="0"/>
                <a:ea typeface="Calibri" pitchFamily="34" charset="-122"/>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AmbitionBox</a:t>
            </a:r>
            <a:endParaRPr lang="en-US" sz="2000" dirty="0">
              <a:latin typeface="Times New Roman" panose="02020603050405020304" pitchFamily="18" charset="0"/>
              <a:ea typeface="Calibri" pitchFamily="34" charset="-122"/>
              <a:cs typeface="Times New Roman" panose="02020603050405020304" pitchFamily="18" charset="0"/>
            </a:endParaRPr>
          </a:p>
        </p:txBody>
      </p:sp>
      <p:sp>
        <p:nvSpPr>
          <p:cNvPr id="9" name="TextBox 8">
            <a:extLst>
              <a:ext uri="{FF2B5EF4-FFF2-40B4-BE49-F238E27FC236}">
                <a16:creationId xmlns:a16="http://schemas.microsoft.com/office/drawing/2014/main" id="{87097193-D955-309C-E0B8-5E5314A8C784}"/>
              </a:ext>
            </a:extLst>
          </p:cNvPr>
          <p:cNvSpPr txBox="1"/>
          <p:nvPr/>
        </p:nvSpPr>
        <p:spPr>
          <a:xfrm>
            <a:off x="553240" y="1858728"/>
            <a:ext cx="8566607" cy="4401205"/>
          </a:xfrm>
          <a:prstGeom prst="rect">
            <a:avLst/>
          </a:prstGeom>
          <a:noFill/>
        </p:spPr>
        <p:txBody>
          <a:bodyPr wrap="square">
            <a:spAutoFit/>
          </a:bodyPr>
          <a:lstStyle/>
          <a:p>
            <a:pPr algn="just">
              <a:buNone/>
            </a:pPr>
            <a:r>
              <a:rPr lang="en-US" sz="2000" b="1" dirty="0">
                <a:solidFill>
                  <a:srgbClr val="FF0000"/>
                </a:solidFill>
                <a:latin typeface="Times New Roman" panose="02020603050405020304" pitchFamily="18" charset="0"/>
                <a:cs typeface="Times New Roman" panose="02020603050405020304" pitchFamily="18" charset="0"/>
              </a:rPr>
              <a:t>Website link:</a:t>
            </a:r>
            <a:r>
              <a:rPr lang="en-US" sz="2000" dirty="0">
                <a:latin typeface="Times New Roman" panose="02020603050405020304" pitchFamily="18" charset="0"/>
                <a:cs typeface="Times New Roman" panose="02020603050405020304" pitchFamily="18" charset="0"/>
              </a:rPr>
              <a:t> https://www.ambitionbox.com/</a:t>
            </a:r>
          </a:p>
          <a:p>
            <a:pPr algn="just">
              <a:buNone/>
            </a:pPr>
            <a:endParaRPr lang="en-US" sz="2000" b="1" dirty="0">
              <a:solidFill>
                <a:srgbClr val="FF0000"/>
              </a:solidFill>
              <a:latin typeface="Times New Roman" panose="02020603050405020304" pitchFamily="18" charset="0"/>
              <a:cs typeface="Times New Roman" panose="02020603050405020304" pitchFamily="18" charset="0"/>
            </a:endParaRPr>
          </a:p>
          <a:p>
            <a:pPr algn="just">
              <a:buNone/>
            </a:pPr>
            <a:r>
              <a:rPr lang="en-US" sz="2000" b="1" dirty="0">
                <a:solidFill>
                  <a:srgbClr val="FF0000"/>
                </a:solidFill>
                <a:latin typeface="Times New Roman" panose="02020603050405020304" pitchFamily="18" charset="0"/>
                <a:cs typeface="Times New Roman" panose="02020603050405020304" pitchFamily="18" charset="0"/>
              </a:rPr>
              <a:t>Dataset Description</a:t>
            </a:r>
          </a:p>
          <a:p>
            <a:pPr algn="just">
              <a:buNone/>
            </a:pPr>
            <a:endParaRPr lang="en-US" sz="20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sz="2000" b="1" dirty="0" err="1">
                <a:latin typeface="Times New Roman" panose="02020603050405020304" pitchFamily="18" charset="0"/>
                <a:cs typeface="Times New Roman" panose="02020603050405020304" pitchFamily="18" charset="0"/>
              </a:rPr>
              <a:t>AmbitionBox</a:t>
            </a:r>
            <a:r>
              <a:rPr lang="en-US" sz="2000" dirty="0">
                <a:latin typeface="Times New Roman" panose="02020603050405020304" pitchFamily="18" charset="0"/>
                <a:cs typeface="Times New Roman" panose="02020603050405020304" pitchFamily="18" charset="0"/>
              </a:rPr>
              <a:t> is an online platform that provides information about companies, salaries, and job opportunities</a:t>
            </a:r>
            <a:r>
              <a:rPr lang="en-US" sz="2000" dirty="0"/>
              <a:t>.</a:t>
            </a:r>
            <a:r>
              <a:rPr lang="en-US" sz="2000" dirty="0">
                <a:latin typeface="Times New Roman" panose="02020603050405020304" pitchFamily="18" charset="0"/>
                <a:cs typeface="Times New Roman" panose="02020603050405020304" pitchFamily="18" charset="0"/>
              </a:rPr>
              <a:t>. </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dataset was collected by scraping IT job listings from </a:t>
            </a:r>
            <a:r>
              <a:rPr lang="en-US" sz="2000" dirty="0" err="1">
                <a:latin typeface="Times New Roman" panose="02020603050405020304" pitchFamily="18" charset="0"/>
                <a:cs typeface="Times New Roman" panose="02020603050405020304" pitchFamily="18" charset="0"/>
              </a:rPr>
              <a:t>AmbitionBox</a:t>
            </a:r>
            <a:r>
              <a:rPr lang="en-US" sz="2000" dirty="0"/>
              <a:t>.</a:t>
            </a:r>
          </a:p>
          <a:p>
            <a:pPr algn="just"/>
            <a:endParaRPr lang="en-US" sz="20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The scraping process was executed </a:t>
            </a:r>
            <a:r>
              <a:rPr lang="en-US" sz="2000" b="1" dirty="0">
                <a:latin typeface="Times New Roman" panose="02020603050405020304" pitchFamily="18" charset="0"/>
                <a:cs typeface="Times New Roman" panose="02020603050405020304" pitchFamily="18" charset="0"/>
              </a:rPr>
              <a:t>four times</a:t>
            </a:r>
            <a:r>
              <a:rPr lang="en-US" sz="2000" dirty="0">
                <a:latin typeface="Times New Roman" panose="02020603050405020304" pitchFamily="18" charset="0"/>
                <a:cs typeface="Times New Roman" panose="02020603050405020304" pitchFamily="18" charset="0"/>
              </a:rPr>
              <a:t> to collect a large dataset and improve data coverage..</a:t>
            </a:r>
          </a:p>
          <a:p>
            <a:pPr marL="285750" indent="-285750" algn="just">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algn="just"/>
            <a:r>
              <a:rPr lang="en-US" sz="2000" b="1" dirty="0">
                <a:solidFill>
                  <a:srgbClr val="FF0000"/>
                </a:solidFill>
                <a:latin typeface="Times New Roman" panose="02020603050405020304" pitchFamily="18" charset="0"/>
                <a:ea typeface="Calibri" pitchFamily="34" charset="-122"/>
                <a:cs typeface="Times New Roman" panose="02020603050405020304" pitchFamily="18" charset="0"/>
              </a:rPr>
              <a:t>Tools</a:t>
            </a:r>
            <a:r>
              <a:rPr lang="en-US" sz="2000" b="1" dirty="0">
                <a:latin typeface="Times New Roman" panose="02020603050405020304" pitchFamily="18" charset="0"/>
                <a:ea typeface="Calibri" pitchFamily="34" charset="-122"/>
                <a:cs typeface="Times New Roman" panose="02020603050405020304" pitchFamily="18" charset="0"/>
              </a:rPr>
              <a:t>: </a:t>
            </a:r>
            <a:r>
              <a:rPr lang="en-US" sz="2000" dirty="0">
                <a:latin typeface="Times New Roman" panose="02020603050405020304" pitchFamily="18" charset="0"/>
                <a:ea typeface="Calibri" pitchFamily="34" charset="-122"/>
                <a:cs typeface="Times New Roman" panose="02020603050405020304" pitchFamily="18" charset="0"/>
              </a:rPr>
              <a:t>Python · Pandas · Matplotlib · Seaborn</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p>
        </p:txBody>
      </p:sp>
      <p:pic>
        <p:nvPicPr>
          <p:cNvPr id="2" name="Picture 1">
            <a:extLst>
              <a:ext uri="{FF2B5EF4-FFF2-40B4-BE49-F238E27FC236}">
                <a16:creationId xmlns:a16="http://schemas.microsoft.com/office/drawing/2014/main" id="{FC008718-F611-38D1-63C2-A67881BF6789}"/>
              </a:ext>
            </a:extLst>
          </p:cNvPr>
          <p:cNvPicPr>
            <a:picLocks noChangeAspect="1"/>
          </p:cNvPicPr>
          <p:nvPr/>
        </p:nvPicPr>
        <p:blipFill>
          <a:blip r:embed="rId2"/>
          <a:stretch>
            <a:fillRect/>
          </a:stretch>
        </p:blipFill>
        <p:spPr>
          <a:xfrm>
            <a:off x="8852630" y="6017058"/>
            <a:ext cx="3338185" cy="723108"/>
          </a:xfrm>
          <a:prstGeom prst="rect">
            <a:avLst/>
          </a:prstGeom>
        </p:spPr>
      </p:pic>
      <p:sp>
        <p:nvSpPr>
          <p:cNvPr id="3" name="Text 12">
            <a:extLst>
              <a:ext uri="{FF2B5EF4-FFF2-40B4-BE49-F238E27FC236}">
                <a16:creationId xmlns:a16="http://schemas.microsoft.com/office/drawing/2014/main" id="{92359E74-840D-13A8-CF0D-B7B66EA7DA88}"/>
              </a:ext>
            </a:extLst>
          </p:cNvPr>
          <p:cNvSpPr/>
          <p:nvPr/>
        </p:nvSpPr>
        <p:spPr>
          <a:xfrm>
            <a:off x="652807" y="899806"/>
            <a:ext cx="7623927" cy="520171"/>
          </a:xfrm>
          <a:prstGeom prst="rect">
            <a:avLst/>
          </a:prstGeom>
          <a:noFill/>
          <a:ln/>
        </p:spPr>
        <p:txBody>
          <a:bodyPr wrap="square" rtlCol="0" anchor="ctr"/>
          <a:lstStyle/>
          <a:p>
            <a:pPr marL="0" indent="0">
              <a:buNone/>
            </a:pPr>
            <a:endParaRPr lang="en-US" sz="2000" b="1" dirty="0">
              <a:solidFill>
                <a:srgbClr val="FF0000"/>
              </a:solidFill>
              <a:latin typeface="Times New Roman" panose="02020603050405020304" pitchFamily="18" charset="0"/>
              <a:ea typeface="Calibri" pitchFamily="34" charset="-122"/>
              <a:cs typeface="Times New Roman" panose="02020603050405020304" pitchFamily="18" charset="0"/>
            </a:endParaRPr>
          </a:p>
        </p:txBody>
      </p:sp>
      <p:sp>
        <p:nvSpPr>
          <p:cNvPr id="4" name="Shape 0">
            <a:extLst>
              <a:ext uri="{FF2B5EF4-FFF2-40B4-BE49-F238E27FC236}">
                <a16:creationId xmlns:a16="http://schemas.microsoft.com/office/drawing/2014/main" id="{98CD1A54-0386-BFF9-9B37-D83ABF7CE3D9}"/>
              </a:ext>
            </a:extLst>
          </p:cNvPr>
          <p:cNvSpPr/>
          <p:nvPr/>
        </p:nvSpPr>
        <p:spPr>
          <a:xfrm>
            <a:off x="0" y="0"/>
            <a:ext cx="12192000" cy="1219200"/>
          </a:xfrm>
          <a:prstGeom prst="rect">
            <a:avLst/>
          </a:prstGeom>
          <a:solidFill>
            <a:srgbClr val="0D2137"/>
          </a:solidFill>
          <a:ln w="12700">
            <a:solidFill>
              <a:srgbClr val="0D2137"/>
            </a:solidFill>
            <a:prstDash val="solid"/>
          </a:ln>
        </p:spPr>
        <p:txBody>
          <a:bodyPr/>
          <a:lstStyle/>
          <a:p>
            <a:endParaRPr lang="en-US"/>
          </a:p>
        </p:txBody>
      </p:sp>
      <p:sp>
        <p:nvSpPr>
          <p:cNvPr id="5" name="TextBox 4">
            <a:extLst>
              <a:ext uri="{FF2B5EF4-FFF2-40B4-BE49-F238E27FC236}">
                <a16:creationId xmlns:a16="http://schemas.microsoft.com/office/drawing/2014/main" id="{A9DBCEB1-EBA0-6C94-737E-B78861BD6381}"/>
              </a:ext>
            </a:extLst>
          </p:cNvPr>
          <p:cNvSpPr txBox="1"/>
          <p:nvPr/>
        </p:nvSpPr>
        <p:spPr>
          <a:xfrm>
            <a:off x="591312" y="287376"/>
            <a:ext cx="5504688" cy="674031"/>
          </a:xfrm>
          <a:prstGeom prst="rect">
            <a:avLst/>
          </a:prstGeom>
          <a:noFill/>
        </p:spPr>
        <p:txBody>
          <a:bodyPr wrap="square" rtlCol="0">
            <a:spAutoFit/>
          </a:bodyPr>
          <a:lstStyle/>
          <a:p>
            <a:r>
              <a:rPr lang="en-US" sz="3730" dirty="0">
                <a:solidFill>
                  <a:schemeClr val="bg1"/>
                </a:solidFill>
                <a:latin typeface="Times New Roman" panose="02020603050405020304" pitchFamily="18" charset="0"/>
                <a:cs typeface="Times New Roman" panose="02020603050405020304" pitchFamily="18" charset="0"/>
              </a:rPr>
              <a:t>Data Source</a:t>
            </a:r>
          </a:p>
        </p:txBody>
      </p:sp>
      <p:pic>
        <p:nvPicPr>
          <p:cNvPr id="8" name="Picture 7">
            <a:extLst>
              <a:ext uri="{FF2B5EF4-FFF2-40B4-BE49-F238E27FC236}">
                <a16:creationId xmlns:a16="http://schemas.microsoft.com/office/drawing/2014/main" id="{B79ADF01-E268-1DF0-37BC-00CF10075A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0433" y="1419977"/>
            <a:ext cx="1478760" cy="1399423"/>
          </a:xfrm>
          <a:prstGeom prst="rect">
            <a:avLst/>
          </a:prstGeom>
        </p:spPr>
      </p:pic>
    </p:spTree>
    <p:extLst>
      <p:ext uri="{BB962C8B-B14F-4D97-AF65-F5344CB8AC3E}">
        <p14:creationId xmlns:p14="http://schemas.microsoft.com/office/powerpoint/2010/main" val="4010003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09">
          <a:extLst>
            <a:ext uri="{FF2B5EF4-FFF2-40B4-BE49-F238E27FC236}">
              <a16:creationId xmlns:a16="http://schemas.microsoft.com/office/drawing/2014/main" id="{EF47B636-D96B-DAD2-A7A6-F8CE37D15B39}"/>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11259D0E-26C6-C8F6-4263-242A837FE670}"/>
              </a:ext>
            </a:extLst>
          </p:cNvPr>
          <p:cNvSpPr txBox="1">
            <a:spLocks noGrp="1"/>
          </p:cNvSpPr>
          <p:nvPr>
            <p:ph idx="1"/>
          </p:nvPr>
        </p:nvSpPr>
        <p:spPr>
          <a:xfrm>
            <a:off x="0" y="9144"/>
            <a:ext cx="12192000" cy="6857999"/>
          </a:xfrm>
          <a:prstGeom prst="rect">
            <a:avLst/>
          </a:prstGeom>
          <a:solidFill>
            <a:schemeClr val="tx1"/>
          </a:solidFill>
          <a:ln>
            <a:noFill/>
          </a:ln>
        </p:spPr>
        <p:txBody>
          <a:bodyPr spcFirstLastPara="1" wrap="square" lIns="91425" tIns="45700" rIns="91425" bIns="45700" anchor="t" anchorCtr="0">
            <a:normAutofit/>
          </a:bodyPr>
          <a:lstStyle/>
          <a:p>
            <a:pPr marL="228600" lvl="0" indent="-130810">
              <a:buSzPct val="100000"/>
              <a:buNone/>
            </a:pPr>
            <a:r>
              <a:rPr lang="en-US" dirty="0"/>
              <a:t> </a:t>
            </a:r>
          </a:p>
        </p:txBody>
      </p:sp>
      <p:sp>
        <p:nvSpPr>
          <p:cNvPr id="4" name="TextBox 3">
            <a:extLst>
              <a:ext uri="{FF2B5EF4-FFF2-40B4-BE49-F238E27FC236}">
                <a16:creationId xmlns:a16="http://schemas.microsoft.com/office/drawing/2014/main" id="{37741EF5-DDBC-3CF6-E5FC-460BB817A719}"/>
              </a:ext>
            </a:extLst>
          </p:cNvPr>
          <p:cNvSpPr txBox="1"/>
          <p:nvPr/>
        </p:nvSpPr>
        <p:spPr>
          <a:xfrm>
            <a:off x="551465" y="163813"/>
            <a:ext cx="11076495" cy="1200329"/>
          </a:xfrm>
          <a:prstGeom prst="rect">
            <a:avLst/>
          </a:prstGeom>
          <a:noFill/>
        </p:spPr>
        <p:txBody>
          <a:bodyPr wrap="square" rtlCol="0">
            <a:spAutoFit/>
          </a:bodyPr>
          <a:lstStyle/>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2F3404C-F471-A025-B6C4-229C6C2ABD99}"/>
              </a:ext>
            </a:extLst>
          </p:cNvPr>
          <p:cNvSpPr txBox="1"/>
          <p:nvPr/>
        </p:nvSpPr>
        <p:spPr>
          <a:xfrm>
            <a:off x="725863" y="87001"/>
            <a:ext cx="10558021" cy="461665"/>
          </a:xfrm>
          <a:prstGeom prst="rect">
            <a:avLst/>
          </a:prstGeom>
          <a:noFill/>
        </p:spPr>
        <p:txBody>
          <a:bodyPr wrap="square">
            <a:spAutoFit/>
          </a:bodyPr>
          <a:lstStyle/>
          <a:p>
            <a:pPr algn="ctr"/>
            <a:r>
              <a:rPr lang="en-US" sz="2400" b="1" dirty="0">
                <a:solidFill>
                  <a:srgbClr val="FFFF00"/>
                </a:solidFill>
                <a:latin typeface="Times New Roman" panose="02020603050405020304" pitchFamily="18" charset="0"/>
                <a:ea typeface="Calibri" pitchFamily="34" charset="-122"/>
                <a:cs typeface="Times New Roman" panose="02020603050405020304" pitchFamily="18" charset="0"/>
              </a:rPr>
              <a:t>Raw Dataset after Extraction</a:t>
            </a:r>
            <a:endParaRPr lang="en-US" sz="2400" b="1" dirty="0">
              <a:solidFill>
                <a:srgbClr val="FFFF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8F9B24F-C89F-805E-E0E6-8391783F65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632" y="587019"/>
            <a:ext cx="11440160" cy="5303062"/>
          </a:xfrm>
          <a:prstGeom prst="rect">
            <a:avLst/>
          </a:prstGeom>
        </p:spPr>
      </p:pic>
      <p:pic>
        <p:nvPicPr>
          <p:cNvPr id="2" name="Picture 1">
            <a:extLst>
              <a:ext uri="{FF2B5EF4-FFF2-40B4-BE49-F238E27FC236}">
                <a16:creationId xmlns:a16="http://schemas.microsoft.com/office/drawing/2014/main" id="{0629741B-5F92-6C0E-15F3-12B8DBDB12FF}"/>
              </a:ext>
            </a:extLst>
          </p:cNvPr>
          <p:cNvPicPr>
            <a:picLocks noChangeAspect="1"/>
          </p:cNvPicPr>
          <p:nvPr/>
        </p:nvPicPr>
        <p:blipFill>
          <a:blip r:embed="rId4"/>
          <a:stretch>
            <a:fillRect/>
          </a:stretch>
        </p:blipFill>
        <p:spPr>
          <a:xfrm>
            <a:off x="8852630" y="6017058"/>
            <a:ext cx="3338185" cy="723108"/>
          </a:xfrm>
          <a:prstGeom prst="rect">
            <a:avLst/>
          </a:prstGeom>
        </p:spPr>
      </p:pic>
      <p:sp>
        <p:nvSpPr>
          <p:cNvPr id="6" name="TextBox 5">
            <a:extLst>
              <a:ext uri="{FF2B5EF4-FFF2-40B4-BE49-F238E27FC236}">
                <a16:creationId xmlns:a16="http://schemas.microsoft.com/office/drawing/2014/main" id="{A0921A21-CF68-A511-D482-55263C18CE41}"/>
              </a:ext>
            </a:extLst>
          </p:cNvPr>
          <p:cNvSpPr txBox="1"/>
          <p:nvPr/>
        </p:nvSpPr>
        <p:spPr>
          <a:xfrm>
            <a:off x="1676400" y="6017058"/>
            <a:ext cx="7416800" cy="369332"/>
          </a:xfrm>
          <a:prstGeom prst="rect">
            <a:avLst/>
          </a:prstGeom>
          <a:noFill/>
        </p:spPr>
        <p:txBody>
          <a:bodyPr wrap="square" rtlCol="0">
            <a:spAutoFit/>
          </a:bodyPr>
          <a:lstStyle/>
          <a:p>
            <a:pPr algn="ctr"/>
            <a:r>
              <a:rPr lang="en-US" b="1" dirty="0">
                <a:solidFill>
                  <a:srgbClr val="FFFF00"/>
                </a:solidFill>
                <a:latin typeface="Times New Roman" panose="02020603050405020304" pitchFamily="18" charset="0"/>
                <a:ea typeface="Calibri" pitchFamily="34" charset="-122"/>
                <a:cs typeface="Times New Roman" panose="02020603050405020304" pitchFamily="18" charset="0"/>
              </a:rPr>
              <a:t>Dataset has 8320 rows and 8 Columns</a:t>
            </a:r>
            <a:endParaRPr lang="en-US" b="1" dirty="0">
              <a:solidFill>
                <a:srgbClr val="FFFF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6229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16AF094-4FE8-81F4-726F-95096E04801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D7F86C9-FFA8-C5FA-EE0B-9BB0C7C27240}"/>
              </a:ext>
            </a:extLst>
          </p:cNvPr>
          <p:cNvSpPr/>
          <p:nvPr/>
        </p:nvSpPr>
        <p:spPr>
          <a:xfrm>
            <a:off x="-1185" y="-4420"/>
            <a:ext cx="12192000" cy="1219200"/>
          </a:xfrm>
          <a:prstGeom prst="rect">
            <a:avLst/>
          </a:prstGeom>
          <a:solidFill>
            <a:srgbClr val="0D2137"/>
          </a:solidFill>
          <a:ln w="12700">
            <a:solidFill>
              <a:srgbClr val="0D2137"/>
            </a:solidFill>
            <a:prstDash val="solid"/>
          </a:ln>
        </p:spPr>
        <p:txBody>
          <a:bodyPr/>
          <a:lstStyle/>
          <a:p>
            <a:endParaRPr lang="en-US"/>
          </a:p>
        </p:txBody>
      </p:sp>
      <p:sp>
        <p:nvSpPr>
          <p:cNvPr id="3" name="Text 1">
            <a:extLst>
              <a:ext uri="{FF2B5EF4-FFF2-40B4-BE49-F238E27FC236}">
                <a16:creationId xmlns:a16="http://schemas.microsoft.com/office/drawing/2014/main" id="{8D025DB7-D5AB-1A6C-BB43-025BAEA65F76}"/>
              </a:ext>
            </a:extLst>
          </p:cNvPr>
          <p:cNvSpPr/>
          <p:nvPr/>
        </p:nvSpPr>
        <p:spPr>
          <a:xfrm>
            <a:off x="673608" y="260256"/>
            <a:ext cx="10972800" cy="731520"/>
          </a:xfrm>
          <a:prstGeom prst="rect">
            <a:avLst/>
          </a:prstGeom>
          <a:noFill/>
          <a:ln/>
        </p:spPr>
        <p:txBody>
          <a:bodyPr wrap="square" rtlCol="0" anchor="ctr"/>
          <a:lstStyle/>
          <a:p>
            <a:r>
              <a:rPr lang="en-US" sz="3730" dirty="0">
                <a:solidFill>
                  <a:schemeClr val="bg1"/>
                </a:solidFill>
                <a:latin typeface="Times New Roman" panose="02020603050405020304" pitchFamily="18" charset="0"/>
                <a:cs typeface="Times New Roman" panose="02020603050405020304" pitchFamily="18" charset="0"/>
              </a:rPr>
              <a:t>Data Cleaning</a:t>
            </a:r>
          </a:p>
        </p:txBody>
      </p:sp>
      <p:sp>
        <p:nvSpPr>
          <p:cNvPr id="8" name="Text 6">
            <a:extLst>
              <a:ext uri="{FF2B5EF4-FFF2-40B4-BE49-F238E27FC236}">
                <a16:creationId xmlns:a16="http://schemas.microsoft.com/office/drawing/2014/main" id="{1AC28EFF-A038-E2EF-997C-9F98FC56D769}"/>
              </a:ext>
            </a:extLst>
          </p:cNvPr>
          <p:cNvSpPr/>
          <p:nvPr/>
        </p:nvSpPr>
        <p:spPr>
          <a:xfrm>
            <a:off x="487680" y="1389888"/>
            <a:ext cx="5364480" cy="316992"/>
          </a:xfrm>
          <a:prstGeom prst="rect">
            <a:avLst/>
          </a:prstGeom>
          <a:noFill/>
          <a:ln/>
        </p:spPr>
        <p:txBody>
          <a:bodyPr wrap="square" rtlCol="0" anchor="ctr"/>
          <a:lstStyle/>
          <a:p>
            <a:r>
              <a:rPr lang="en-US" sz="2000" b="1" dirty="0">
                <a:solidFill>
                  <a:srgbClr val="FFFFFF"/>
                </a:solidFill>
                <a:latin typeface="Calibri" pitchFamily="34" charset="0"/>
                <a:ea typeface="Calibri" pitchFamily="34" charset="-122"/>
                <a:cs typeface="Calibri" pitchFamily="34" charset="-120"/>
              </a:rPr>
              <a:t>Cleaning skills Column</a:t>
            </a:r>
            <a:endParaRPr lang="en-US" sz="2000" dirty="0"/>
          </a:p>
        </p:txBody>
      </p:sp>
      <p:sp>
        <p:nvSpPr>
          <p:cNvPr id="14" name="Text 12">
            <a:extLst>
              <a:ext uri="{FF2B5EF4-FFF2-40B4-BE49-F238E27FC236}">
                <a16:creationId xmlns:a16="http://schemas.microsoft.com/office/drawing/2014/main" id="{DAD4B2CA-99F5-B45B-87F0-66B32EBB7A54}"/>
              </a:ext>
            </a:extLst>
          </p:cNvPr>
          <p:cNvSpPr/>
          <p:nvPr/>
        </p:nvSpPr>
        <p:spPr>
          <a:xfrm>
            <a:off x="6461760" y="1389888"/>
            <a:ext cx="5364480" cy="316992"/>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Recommendation → Rating</a:t>
            </a:r>
            <a:endParaRPr lang="en-US" sz="1600" dirty="0"/>
          </a:p>
        </p:txBody>
      </p:sp>
      <p:sp>
        <p:nvSpPr>
          <p:cNvPr id="20" name="Text 18">
            <a:extLst>
              <a:ext uri="{FF2B5EF4-FFF2-40B4-BE49-F238E27FC236}">
                <a16:creationId xmlns:a16="http://schemas.microsoft.com/office/drawing/2014/main" id="{EE6C8D66-8BC2-291D-5270-4D413ACDAFBF}"/>
              </a:ext>
            </a:extLst>
          </p:cNvPr>
          <p:cNvSpPr/>
          <p:nvPr/>
        </p:nvSpPr>
        <p:spPr>
          <a:xfrm>
            <a:off x="487680" y="3035808"/>
            <a:ext cx="5364480" cy="316992"/>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Locality</a:t>
            </a:r>
            <a:endParaRPr lang="en-US" sz="1600" dirty="0"/>
          </a:p>
        </p:txBody>
      </p:sp>
      <p:sp>
        <p:nvSpPr>
          <p:cNvPr id="26" name="Text 24">
            <a:extLst>
              <a:ext uri="{FF2B5EF4-FFF2-40B4-BE49-F238E27FC236}">
                <a16:creationId xmlns:a16="http://schemas.microsoft.com/office/drawing/2014/main" id="{0A3AA8BC-6AB3-A43A-37EB-D1FB455ADEBE}"/>
              </a:ext>
            </a:extLst>
          </p:cNvPr>
          <p:cNvSpPr/>
          <p:nvPr/>
        </p:nvSpPr>
        <p:spPr>
          <a:xfrm>
            <a:off x="2973842" y="4297491"/>
            <a:ext cx="5364480" cy="316992"/>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Experience</a:t>
            </a:r>
            <a:endParaRPr lang="en-US" sz="1600" dirty="0"/>
          </a:p>
        </p:txBody>
      </p:sp>
      <p:sp>
        <p:nvSpPr>
          <p:cNvPr id="32" name="Text 30">
            <a:extLst>
              <a:ext uri="{FF2B5EF4-FFF2-40B4-BE49-F238E27FC236}">
                <a16:creationId xmlns:a16="http://schemas.microsoft.com/office/drawing/2014/main" id="{277BDAA6-29E5-4976-31E5-B3CBA96D60EF}"/>
              </a:ext>
            </a:extLst>
          </p:cNvPr>
          <p:cNvSpPr/>
          <p:nvPr/>
        </p:nvSpPr>
        <p:spPr>
          <a:xfrm>
            <a:off x="487680" y="4681728"/>
            <a:ext cx="5364480" cy="316992"/>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Hospital_Name</a:t>
            </a:r>
            <a:endParaRPr lang="en-US" sz="1600" dirty="0"/>
          </a:p>
        </p:txBody>
      </p:sp>
      <p:sp>
        <p:nvSpPr>
          <p:cNvPr id="39" name="TextBox 38">
            <a:extLst>
              <a:ext uri="{FF2B5EF4-FFF2-40B4-BE49-F238E27FC236}">
                <a16:creationId xmlns:a16="http://schemas.microsoft.com/office/drawing/2014/main" id="{0D57D2F0-626B-5CA3-C6DB-712D898058CE}"/>
              </a:ext>
            </a:extLst>
          </p:cNvPr>
          <p:cNvSpPr txBox="1"/>
          <p:nvPr/>
        </p:nvSpPr>
        <p:spPr>
          <a:xfrm>
            <a:off x="176581" y="1519571"/>
            <a:ext cx="8176087" cy="4370427"/>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Before performing data cleaning, the dataset was inspected to understand its structure and quality</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following checks were performed:</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sz="2000" dirty="0"/>
              <a:t>Previewing the dataset</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sz="2000" dirty="0"/>
              <a:t>Checking column data types</a:t>
            </a:r>
          </a:p>
          <a:p>
            <a:pPr algn="just"/>
            <a:endParaRPr lang="en-US" sz="2000" dirty="0"/>
          </a:p>
          <a:p>
            <a:pPr marL="285750" indent="-285750" algn="just">
              <a:buFont typeface="Wingdings" panose="05000000000000000000" pitchFamily="2" charset="2"/>
              <a:buChar char="ü"/>
            </a:pPr>
            <a:r>
              <a:rPr lang="en-US" sz="2000" dirty="0"/>
              <a:t>Identifying missing values</a:t>
            </a:r>
          </a:p>
          <a:p>
            <a:pPr algn="just"/>
            <a:endParaRPr lang="en-US" sz="2000" dirty="0"/>
          </a:p>
          <a:p>
            <a:pPr marL="285750" indent="-285750" algn="just">
              <a:buFont typeface="Wingdings" panose="05000000000000000000" pitchFamily="2" charset="2"/>
              <a:buChar char="ü"/>
            </a:pPr>
            <a:r>
              <a:rPr lang="en-US" sz="2000" dirty="0"/>
              <a:t>Removing duplicate records</a:t>
            </a:r>
          </a:p>
          <a:p>
            <a:pPr algn="just"/>
            <a:endParaRPr lang="en-US" sz="2000" dirty="0"/>
          </a:p>
          <a:p>
            <a:pPr marL="285750" indent="-285750" algn="just">
              <a:buFont typeface="Wingdings" panose="05000000000000000000" pitchFamily="2" charset="2"/>
              <a:buChar char="ü"/>
            </a:pPr>
            <a:r>
              <a:rPr lang="en-US" sz="2000" dirty="0"/>
              <a:t>Cleaning unnecessary text from columns</a:t>
            </a:r>
            <a:endParaRPr lang="en-US" sz="2000" b="0" i="0" dirty="0">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D61ECB1-2548-DF0D-71D6-46C99B073463}"/>
              </a:ext>
            </a:extLst>
          </p:cNvPr>
          <p:cNvPicPr>
            <a:picLocks noChangeAspect="1"/>
          </p:cNvPicPr>
          <p:nvPr/>
        </p:nvPicPr>
        <p:blipFill>
          <a:blip r:embed="rId3"/>
          <a:stretch>
            <a:fillRect/>
          </a:stretch>
        </p:blipFill>
        <p:spPr>
          <a:xfrm>
            <a:off x="8852630" y="6017058"/>
            <a:ext cx="3338185" cy="723108"/>
          </a:xfrm>
          <a:prstGeom prst="rect">
            <a:avLst/>
          </a:prstGeom>
        </p:spPr>
      </p:pic>
      <p:pic>
        <p:nvPicPr>
          <p:cNvPr id="22" name="Picture 21">
            <a:extLst>
              <a:ext uri="{FF2B5EF4-FFF2-40B4-BE49-F238E27FC236}">
                <a16:creationId xmlns:a16="http://schemas.microsoft.com/office/drawing/2014/main" id="{7DA41FE4-76CF-ACE7-9C0B-56D8F1995D68}"/>
              </a:ext>
            </a:extLst>
          </p:cNvPr>
          <p:cNvPicPr>
            <a:picLocks noChangeAspect="1"/>
          </p:cNvPicPr>
          <p:nvPr/>
        </p:nvPicPr>
        <p:blipFill>
          <a:blip r:embed="rId4"/>
          <a:stretch>
            <a:fillRect/>
          </a:stretch>
        </p:blipFill>
        <p:spPr>
          <a:xfrm>
            <a:off x="8199120" y="2621280"/>
            <a:ext cx="3816299" cy="2245315"/>
          </a:xfrm>
          <a:prstGeom prst="rect">
            <a:avLst/>
          </a:prstGeom>
        </p:spPr>
      </p:pic>
      <p:pic>
        <p:nvPicPr>
          <p:cNvPr id="24" name="Picture 23">
            <a:extLst>
              <a:ext uri="{FF2B5EF4-FFF2-40B4-BE49-F238E27FC236}">
                <a16:creationId xmlns:a16="http://schemas.microsoft.com/office/drawing/2014/main" id="{A784D244-B580-3263-8A3C-D045C5E8F886}"/>
              </a:ext>
            </a:extLst>
          </p:cNvPr>
          <p:cNvPicPr>
            <a:picLocks noChangeAspect="1"/>
          </p:cNvPicPr>
          <p:nvPr/>
        </p:nvPicPr>
        <p:blipFill>
          <a:blip r:embed="rId5"/>
          <a:stretch>
            <a:fillRect/>
          </a:stretch>
        </p:blipFill>
        <p:spPr>
          <a:xfrm>
            <a:off x="5852160" y="2636520"/>
            <a:ext cx="1810003" cy="2245315"/>
          </a:xfrm>
          <a:prstGeom prst="rect">
            <a:avLst/>
          </a:prstGeom>
        </p:spPr>
      </p:pic>
    </p:spTree>
    <p:extLst>
      <p:ext uri="{BB962C8B-B14F-4D97-AF65-F5344CB8AC3E}">
        <p14:creationId xmlns:p14="http://schemas.microsoft.com/office/powerpoint/2010/main" val="1499072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D383338-A73B-3071-7DF5-AC318C3C085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74F8211-4B9A-03C4-6103-8A5976DA49F3}"/>
              </a:ext>
            </a:extLst>
          </p:cNvPr>
          <p:cNvSpPr/>
          <p:nvPr/>
        </p:nvSpPr>
        <p:spPr>
          <a:xfrm>
            <a:off x="-1185" y="-4420"/>
            <a:ext cx="12192000" cy="1219200"/>
          </a:xfrm>
          <a:prstGeom prst="rect">
            <a:avLst/>
          </a:prstGeom>
          <a:solidFill>
            <a:srgbClr val="0D2137"/>
          </a:solidFill>
          <a:ln w="12700">
            <a:solidFill>
              <a:srgbClr val="0D2137"/>
            </a:solidFill>
            <a:prstDash val="solid"/>
          </a:ln>
        </p:spPr>
        <p:txBody>
          <a:bodyPr/>
          <a:lstStyle/>
          <a:p>
            <a:endParaRPr lang="en-US"/>
          </a:p>
        </p:txBody>
      </p:sp>
      <p:sp>
        <p:nvSpPr>
          <p:cNvPr id="3" name="Text 1">
            <a:extLst>
              <a:ext uri="{FF2B5EF4-FFF2-40B4-BE49-F238E27FC236}">
                <a16:creationId xmlns:a16="http://schemas.microsoft.com/office/drawing/2014/main" id="{AB27DEF9-BF8E-0A26-9C9C-5C479BD516B7}"/>
              </a:ext>
            </a:extLst>
          </p:cNvPr>
          <p:cNvSpPr/>
          <p:nvPr/>
        </p:nvSpPr>
        <p:spPr>
          <a:xfrm>
            <a:off x="673608" y="260256"/>
            <a:ext cx="10972800" cy="731520"/>
          </a:xfrm>
          <a:prstGeom prst="rect">
            <a:avLst/>
          </a:prstGeom>
          <a:noFill/>
          <a:ln/>
        </p:spPr>
        <p:txBody>
          <a:bodyPr wrap="square" rtlCol="0" anchor="ctr"/>
          <a:lstStyle/>
          <a:p>
            <a:r>
              <a:rPr lang="en-US" sz="3730" dirty="0">
                <a:solidFill>
                  <a:schemeClr val="bg1"/>
                </a:solidFill>
                <a:latin typeface="Times New Roman" panose="02020603050405020304" pitchFamily="18" charset="0"/>
                <a:cs typeface="Times New Roman" panose="02020603050405020304" pitchFamily="18" charset="0"/>
              </a:rPr>
              <a:t>Data Cleaning</a:t>
            </a:r>
          </a:p>
        </p:txBody>
      </p:sp>
      <p:sp>
        <p:nvSpPr>
          <p:cNvPr id="8" name="Text 6">
            <a:extLst>
              <a:ext uri="{FF2B5EF4-FFF2-40B4-BE49-F238E27FC236}">
                <a16:creationId xmlns:a16="http://schemas.microsoft.com/office/drawing/2014/main" id="{8A96D6AD-92AE-29E7-681F-5D54999DA9B1}"/>
              </a:ext>
            </a:extLst>
          </p:cNvPr>
          <p:cNvSpPr/>
          <p:nvPr/>
        </p:nvSpPr>
        <p:spPr>
          <a:xfrm>
            <a:off x="487680" y="1389888"/>
            <a:ext cx="5364480" cy="316992"/>
          </a:xfrm>
          <a:prstGeom prst="rect">
            <a:avLst/>
          </a:prstGeom>
          <a:noFill/>
          <a:ln/>
        </p:spPr>
        <p:txBody>
          <a:bodyPr wrap="square" rtlCol="0" anchor="ctr"/>
          <a:lstStyle/>
          <a:p>
            <a:r>
              <a:rPr lang="en-US" sz="2000" b="1" dirty="0">
                <a:solidFill>
                  <a:srgbClr val="FFFFFF"/>
                </a:solidFill>
                <a:latin typeface="Calibri" pitchFamily="34" charset="0"/>
                <a:ea typeface="Calibri" pitchFamily="34" charset="-122"/>
                <a:cs typeface="Calibri" pitchFamily="34" charset="-120"/>
              </a:rPr>
              <a:t>Cleaning skills Column</a:t>
            </a:r>
            <a:endParaRPr lang="en-US" sz="2000" dirty="0"/>
          </a:p>
        </p:txBody>
      </p:sp>
      <p:sp>
        <p:nvSpPr>
          <p:cNvPr id="14" name="Text 12">
            <a:extLst>
              <a:ext uri="{FF2B5EF4-FFF2-40B4-BE49-F238E27FC236}">
                <a16:creationId xmlns:a16="http://schemas.microsoft.com/office/drawing/2014/main" id="{322BD0B2-5B5C-7964-5108-6E664A006317}"/>
              </a:ext>
            </a:extLst>
          </p:cNvPr>
          <p:cNvSpPr/>
          <p:nvPr/>
        </p:nvSpPr>
        <p:spPr>
          <a:xfrm>
            <a:off x="6461760" y="1389888"/>
            <a:ext cx="5364480" cy="316992"/>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Recommendation → Rating</a:t>
            </a:r>
            <a:endParaRPr lang="en-US" sz="1600" dirty="0"/>
          </a:p>
        </p:txBody>
      </p:sp>
      <p:sp>
        <p:nvSpPr>
          <p:cNvPr id="20" name="Text 18">
            <a:extLst>
              <a:ext uri="{FF2B5EF4-FFF2-40B4-BE49-F238E27FC236}">
                <a16:creationId xmlns:a16="http://schemas.microsoft.com/office/drawing/2014/main" id="{4352D3C5-57AC-DEC3-F279-06D662F19A13}"/>
              </a:ext>
            </a:extLst>
          </p:cNvPr>
          <p:cNvSpPr/>
          <p:nvPr/>
        </p:nvSpPr>
        <p:spPr>
          <a:xfrm>
            <a:off x="487680" y="3035808"/>
            <a:ext cx="5364480" cy="316992"/>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Locality</a:t>
            </a:r>
            <a:endParaRPr lang="en-US" sz="1600" dirty="0"/>
          </a:p>
        </p:txBody>
      </p:sp>
      <p:sp>
        <p:nvSpPr>
          <p:cNvPr id="26" name="Text 24">
            <a:extLst>
              <a:ext uri="{FF2B5EF4-FFF2-40B4-BE49-F238E27FC236}">
                <a16:creationId xmlns:a16="http://schemas.microsoft.com/office/drawing/2014/main" id="{EA0AD24E-3788-D7B8-A21E-2D35F96FD9B5}"/>
              </a:ext>
            </a:extLst>
          </p:cNvPr>
          <p:cNvSpPr/>
          <p:nvPr/>
        </p:nvSpPr>
        <p:spPr>
          <a:xfrm>
            <a:off x="2973842" y="4297491"/>
            <a:ext cx="5364480" cy="316992"/>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Experience</a:t>
            </a:r>
            <a:endParaRPr lang="en-US" sz="1600" dirty="0"/>
          </a:p>
        </p:txBody>
      </p:sp>
      <p:sp>
        <p:nvSpPr>
          <p:cNvPr id="32" name="Text 30">
            <a:extLst>
              <a:ext uri="{FF2B5EF4-FFF2-40B4-BE49-F238E27FC236}">
                <a16:creationId xmlns:a16="http://schemas.microsoft.com/office/drawing/2014/main" id="{DEE188F3-D20B-5CE9-FC90-E027CA23D96F}"/>
              </a:ext>
            </a:extLst>
          </p:cNvPr>
          <p:cNvSpPr/>
          <p:nvPr/>
        </p:nvSpPr>
        <p:spPr>
          <a:xfrm>
            <a:off x="487680" y="4681728"/>
            <a:ext cx="5364480" cy="316992"/>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Hospital_Name</a:t>
            </a:r>
            <a:endParaRPr lang="en-US" sz="1600" dirty="0"/>
          </a:p>
        </p:txBody>
      </p:sp>
      <p:sp>
        <p:nvSpPr>
          <p:cNvPr id="39" name="TextBox 38">
            <a:extLst>
              <a:ext uri="{FF2B5EF4-FFF2-40B4-BE49-F238E27FC236}">
                <a16:creationId xmlns:a16="http://schemas.microsoft.com/office/drawing/2014/main" id="{D523B369-ACF0-50F2-72A5-AEDC0C23A2D5}"/>
              </a:ext>
            </a:extLst>
          </p:cNvPr>
          <p:cNvSpPr txBox="1"/>
          <p:nvPr/>
        </p:nvSpPr>
        <p:spPr>
          <a:xfrm>
            <a:off x="673608" y="1311316"/>
            <a:ext cx="10675112" cy="5293757"/>
          </a:xfrm>
          <a:prstGeom prst="rect">
            <a:avLst/>
          </a:prstGeom>
          <a:noFill/>
        </p:spPr>
        <p:txBody>
          <a:bodyPr wrap="square">
            <a:spAutoFit/>
          </a:bodyPr>
          <a:lstStyle/>
          <a:p>
            <a:pPr algn="just"/>
            <a:r>
              <a:rPr lang="en-US" sz="2000" dirty="0"/>
              <a:t>Some columns contained unstructured text data.</a:t>
            </a:r>
          </a:p>
          <a:p>
            <a:pPr algn="just"/>
            <a:endParaRPr lang="en-US" sz="2000" dirty="0"/>
          </a:p>
          <a:p>
            <a:pPr algn="just"/>
            <a:r>
              <a:rPr lang="en-US" sz="2000" dirty="0"/>
              <a:t>To improve analysis:</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Removed duplicate records using </a:t>
            </a:r>
            <a:r>
              <a:rPr lang="en-US" dirty="0" err="1">
                <a:latin typeface="Times New Roman" panose="02020603050405020304" pitchFamily="18" charset="0"/>
                <a:cs typeface="Times New Roman" panose="02020603050405020304" pitchFamily="18" charset="0"/>
              </a:rPr>
              <a:t>drop_duplicates</a:t>
            </a:r>
            <a:r>
              <a:rPr lang="en-US" dirty="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Cleaned the </a:t>
            </a:r>
            <a:r>
              <a:rPr lang="en-US" sz="2000" b="1" dirty="0">
                <a:latin typeface="Times New Roman" panose="02020603050405020304" pitchFamily="18" charset="0"/>
                <a:cs typeface="Times New Roman" panose="02020603050405020304" pitchFamily="18" charset="0"/>
              </a:rPr>
              <a:t>Location column</a:t>
            </a:r>
            <a:r>
              <a:rPr lang="en-US" sz="2000" dirty="0">
                <a:latin typeface="Times New Roman" panose="02020603050405020304" pitchFamily="18" charset="0"/>
                <a:cs typeface="Times New Roman" panose="02020603050405020304" pitchFamily="18" charset="0"/>
              </a:rPr>
              <a:t> to extract city names</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Cleaned the </a:t>
            </a:r>
            <a:r>
              <a:rPr lang="en-US" sz="2000" b="1" dirty="0">
                <a:latin typeface="Times New Roman" panose="02020603050405020304" pitchFamily="18" charset="0"/>
                <a:cs typeface="Times New Roman" panose="02020603050405020304" pitchFamily="18" charset="0"/>
              </a:rPr>
              <a:t>Source column</a:t>
            </a:r>
            <a:r>
              <a:rPr lang="en-US" sz="2000" dirty="0">
                <a:latin typeface="Times New Roman" panose="02020603050405020304" pitchFamily="18" charset="0"/>
                <a:cs typeface="Times New Roman" panose="02020603050405020304" pitchFamily="18" charset="0"/>
              </a:rPr>
              <a:t> to remove unnecessary text</a:t>
            </a:r>
          </a:p>
          <a:p>
            <a:pPr marL="285750" indent="-285750" algn="just">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sz="2000" dirty="0"/>
              <a:t>The Experience column contained text values.</a:t>
            </a: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sz="2000" dirty="0"/>
              <a:t>Numeric values were extracted to create two new columns:</a:t>
            </a:r>
          </a:p>
          <a:p>
            <a:r>
              <a:rPr lang="en-US" sz="2000" dirty="0"/>
              <a:t>            • </a:t>
            </a:r>
            <a:r>
              <a:rPr lang="en-US" sz="2000" dirty="0" err="1"/>
              <a:t>Min_Exp</a:t>
            </a:r>
            <a:br>
              <a:rPr lang="en-US" sz="2000" dirty="0"/>
            </a:br>
            <a:r>
              <a:rPr lang="en-US" sz="2000" dirty="0"/>
              <a:t>            • </a:t>
            </a:r>
            <a:r>
              <a:rPr lang="en-US" sz="2000" dirty="0" err="1"/>
              <a:t>Max_Exp</a:t>
            </a:r>
            <a:endParaRPr lang="en-US" sz="2000" dirty="0"/>
          </a:p>
          <a:p>
            <a:pPr algn="just"/>
            <a:r>
              <a:rPr lang="en-US" sz="2000" b="1" i="0" dirty="0">
                <a:effectLst/>
                <a:latin typeface="Times New Roman" panose="02020603050405020304" pitchFamily="18" charset="0"/>
                <a:cs typeface="Times New Roman" panose="02020603050405020304" pitchFamily="18" charset="0"/>
              </a:rPr>
              <a:t>     </a:t>
            </a:r>
            <a:endParaRPr lang="en-US" sz="2000" b="0" i="0" dirty="0">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endParaRPr lang="en-US" sz="2000" b="0" i="0" dirty="0">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C1FF78D-91EC-EA0E-4129-052DA72B27C3}"/>
              </a:ext>
            </a:extLst>
          </p:cNvPr>
          <p:cNvPicPr>
            <a:picLocks noChangeAspect="1"/>
          </p:cNvPicPr>
          <p:nvPr/>
        </p:nvPicPr>
        <p:blipFill>
          <a:blip r:embed="rId3"/>
          <a:stretch>
            <a:fillRect/>
          </a:stretch>
        </p:blipFill>
        <p:spPr>
          <a:xfrm>
            <a:off x="8852630" y="6017058"/>
            <a:ext cx="3338185" cy="723108"/>
          </a:xfrm>
          <a:prstGeom prst="rect">
            <a:avLst/>
          </a:prstGeom>
        </p:spPr>
      </p:pic>
    </p:spTree>
    <p:extLst>
      <p:ext uri="{BB962C8B-B14F-4D97-AF65-F5344CB8AC3E}">
        <p14:creationId xmlns:p14="http://schemas.microsoft.com/office/powerpoint/2010/main" val="839714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1FBBFF4-D594-CE39-CC62-C540C6B1217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F1B0739-07DE-0E14-D33D-087DC62B2649}"/>
              </a:ext>
            </a:extLst>
          </p:cNvPr>
          <p:cNvSpPr/>
          <p:nvPr/>
        </p:nvSpPr>
        <p:spPr>
          <a:xfrm>
            <a:off x="0" y="0"/>
            <a:ext cx="12192000" cy="1219200"/>
          </a:xfrm>
          <a:prstGeom prst="rect">
            <a:avLst/>
          </a:prstGeom>
          <a:solidFill>
            <a:srgbClr val="0D2137"/>
          </a:solidFill>
          <a:ln w="12700">
            <a:solidFill>
              <a:srgbClr val="0D2137"/>
            </a:solidFill>
            <a:prstDash val="solid"/>
          </a:ln>
        </p:spPr>
        <p:txBody>
          <a:bodyPr/>
          <a:lstStyle/>
          <a:p>
            <a:endParaRPr lang="en-US"/>
          </a:p>
        </p:txBody>
      </p:sp>
      <p:sp>
        <p:nvSpPr>
          <p:cNvPr id="3" name="Text 1">
            <a:extLst>
              <a:ext uri="{FF2B5EF4-FFF2-40B4-BE49-F238E27FC236}">
                <a16:creationId xmlns:a16="http://schemas.microsoft.com/office/drawing/2014/main" id="{B2029ACF-15E9-639A-85E7-0994748A45F8}"/>
              </a:ext>
            </a:extLst>
          </p:cNvPr>
          <p:cNvSpPr/>
          <p:nvPr/>
        </p:nvSpPr>
        <p:spPr>
          <a:xfrm>
            <a:off x="487680" y="258986"/>
            <a:ext cx="10972800" cy="731520"/>
          </a:xfrm>
          <a:prstGeom prst="rect">
            <a:avLst/>
          </a:prstGeom>
          <a:noFill/>
          <a:ln/>
        </p:spPr>
        <p:txBody>
          <a:bodyPr wrap="square" rtlCol="0" anchor="ctr"/>
          <a:lstStyle/>
          <a:p>
            <a:r>
              <a:rPr lang="en-US" sz="3730" dirty="0">
                <a:solidFill>
                  <a:schemeClr val="bg1"/>
                </a:solidFill>
                <a:latin typeface="Times New Roman" panose="02020603050405020304" pitchFamily="18" charset="0"/>
                <a:cs typeface="Times New Roman" panose="02020603050405020304" pitchFamily="18" charset="0"/>
              </a:rPr>
              <a:t>Handling Missing Values</a:t>
            </a:r>
          </a:p>
        </p:txBody>
      </p:sp>
      <p:sp>
        <p:nvSpPr>
          <p:cNvPr id="5" name="Text 3">
            <a:extLst>
              <a:ext uri="{FF2B5EF4-FFF2-40B4-BE49-F238E27FC236}">
                <a16:creationId xmlns:a16="http://schemas.microsoft.com/office/drawing/2014/main" id="{1D3EB848-AC32-5AE1-E92C-78E821570F4A}"/>
              </a:ext>
            </a:extLst>
          </p:cNvPr>
          <p:cNvSpPr/>
          <p:nvPr/>
        </p:nvSpPr>
        <p:spPr>
          <a:xfrm>
            <a:off x="365760" y="6498336"/>
            <a:ext cx="11460480" cy="329184"/>
          </a:xfrm>
          <a:prstGeom prst="rect">
            <a:avLst/>
          </a:prstGeom>
          <a:noFill/>
          <a:ln/>
        </p:spPr>
        <p:txBody>
          <a:bodyPr wrap="square" rtlCol="0" anchor="ctr"/>
          <a:lstStyle/>
          <a:p>
            <a:endParaRPr lang="en-US" sz="1333" dirty="0"/>
          </a:p>
        </p:txBody>
      </p:sp>
      <p:sp>
        <p:nvSpPr>
          <p:cNvPr id="8" name="Text 6">
            <a:extLst>
              <a:ext uri="{FF2B5EF4-FFF2-40B4-BE49-F238E27FC236}">
                <a16:creationId xmlns:a16="http://schemas.microsoft.com/office/drawing/2014/main" id="{68B1DDCC-01A8-2FCD-E405-B8EF47C651B0}"/>
              </a:ext>
            </a:extLst>
          </p:cNvPr>
          <p:cNvSpPr/>
          <p:nvPr/>
        </p:nvSpPr>
        <p:spPr>
          <a:xfrm>
            <a:off x="487680" y="1389888"/>
            <a:ext cx="5364480" cy="316992"/>
          </a:xfrm>
          <a:prstGeom prst="rect">
            <a:avLst/>
          </a:prstGeom>
          <a:noFill/>
          <a:ln/>
        </p:spPr>
        <p:txBody>
          <a:bodyPr wrap="square" rtlCol="0" anchor="ctr"/>
          <a:lstStyle/>
          <a:p>
            <a:r>
              <a:rPr lang="en-US" sz="2000" b="1" dirty="0">
                <a:solidFill>
                  <a:srgbClr val="FFFFFF"/>
                </a:solidFill>
                <a:latin typeface="Calibri" pitchFamily="34" charset="0"/>
                <a:ea typeface="Calibri" pitchFamily="34" charset="-122"/>
                <a:cs typeface="Calibri" pitchFamily="34" charset="-120"/>
              </a:rPr>
              <a:t>Locality</a:t>
            </a:r>
            <a:endParaRPr lang="en-US" sz="2000" dirty="0"/>
          </a:p>
        </p:txBody>
      </p:sp>
      <p:sp>
        <p:nvSpPr>
          <p:cNvPr id="14" name="Text 12">
            <a:extLst>
              <a:ext uri="{FF2B5EF4-FFF2-40B4-BE49-F238E27FC236}">
                <a16:creationId xmlns:a16="http://schemas.microsoft.com/office/drawing/2014/main" id="{6CA8B9E3-7C83-6573-0279-98DA128935F6}"/>
              </a:ext>
            </a:extLst>
          </p:cNvPr>
          <p:cNvSpPr/>
          <p:nvPr/>
        </p:nvSpPr>
        <p:spPr>
          <a:xfrm>
            <a:off x="6461760" y="1389888"/>
            <a:ext cx="5364480" cy="316992"/>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Recommendation → Rating</a:t>
            </a:r>
            <a:endParaRPr lang="en-US" sz="1600" dirty="0"/>
          </a:p>
        </p:txBody>
      </p:sp>
      <p:sp>
        <p:nvSpPr>
          <p:cNvPr id="26" name="Text 24">
            <a:extLst>
              <a:ext uri="{FF2B5EF4-FFF2-40B4-BE49-F238E27FC236}">
                <a16:creationId xmlns:a16="http://schemas.microsoft.com/office/drawing/2014/main" id="{A2AE085E-50FB-1437-4CC1-B3388C616693}"/>
              </a:ext>
            </a:extLst>
          </p:cNvPr>
          <p:cNvSpPr/>
          <p:nvPr/>
        </p:nvSpPr>
        <p:spPr>
          <a:xfrm>
            <a:off x="2973842" y="4297491"/>
            <a:ext cx="5364480" cy="316992"/>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Experience</a:t>
            </a:r>
            <a:endParaRPr lang="en-US" sz="1600" dirty="0"/>
          </a:p>
        </p:txBody>
      </p:sp>
      <p:sp>
        <p:nvSpPr>
          <p:cNvPr id="32" name="Text 30">
            <a:extLst>
              <a:ext uri="{FF2B5EF4-FFF2-40B4-BE49-F238E27FC236}">
                <a16:creationId xmlns:a16="http://schemas.microsoft.com/office/drawing/2014/main" id="{7F7A94E3-4CB9-CC2F-54BA-C0B17F3B3ACD}"/>
              </a:ext>
            </a:extLst>
          </p:cNvPr>
          <p:cNvSpPr/>
          <p:nvPr/>
        </p:nvSpPr>
        <p:spPr>
          <a:xfrm>
            <a:off x="487680" y="4681728"/>
            <a:ext cx="5364480" cy="316992"/>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Hospital_Name</a:t>
            </a:r>
            <a:endParaRPr lang="en-US" sz="1600" dirty="0"/>
          </a:p>
        </p:txBody>
      </p:sp>
      <p:sp>
        <p:nvSpPr>
          <p:cNvPr id="23" name="TextBox 22">
            <a:extLst>
              <a:ext uri="{FF2B5EF4-FFF2-40B4-BE49-F238E27FC236}">
                <a16:creationId xmlns:a16="http://schemas.microsoft.com/office/drawing/2014/main" id="{0A6A5B23-10EE-EC7C-73E8-2AF20788AAB3}"/>
              </a:ext>
            </a:extLst>
          </p:cNvPr>
          <p:cNvSpPr txBox="1"/>
          <p:nvPr/>
        </p:nvSpPr>
        <p:spPr>
          <a:xfrm>
            <a:off x="801592" y="1574616"/>
            <a:ext cx="10344976" cy="4093428"/>
          </a:xfrm>
          <a:prstGeom prst="rect">
            <a:avLst/>
          </a:prstGeom>
          <a:noFill/>
        </p:spPr>
        <p:txBody>
          <a:bodyPr wrap="square">
            <a:spAutoFit/>
          </a:bodyPr>
          <a:lstStyle/>
          <a:p>
            <a:pPr algn="just"/>
            <a:r>
              <a:rPr lang="en-US" sz="2000" dirty="0">
                <a:solidFill>
                  <a:srgbClr val="FF0000"/>
                </a:solidFill>
                <a:latin typeface="Times New Roman" panose="02020603050405020304" pitchFamily="18" charset="0"/>
                <a:cs typeface="Times New Roman" panose="02020603050405020304" pitchFamily="18" charset="0"/>
              </a:rPr>
              <a:t>Missing values were identified in the </a:t>
            </a:r>
            <a:r>
              <a:rPr lang="en-US" sz="2000" b="1" dirty="0">
                <a:solidFill>
                  <a:srgbClr val="FF0000"/>
                </a:solidFill>
                <a:latin typeface="Times New Roman" panose="02020603050405020304" pitchFamily="18" charset="0"/>
                <a:cs typeface="Times New Roman" panose="02020603050405020304" pitchFamily="18" charset="0"/>
              </a:rPr>
              <a:t>Salary column</a:t>
            </a:r>
            <a:r>
              <a:rPr lang="en-US" sz="2000" dirty="0">
                <a:solidFill>
                  <a:srgbClr val="FF0000"/>
                </a:solidFill>
                <a:latin typeface="Times New Roman" panose="02020603050405020304" pitchFamily="18" charset="0"/>
                <a:cs typeface="Times New Roman" panose="02020603050405020304" pitchFamily="18" charset="0"/>
              </a:rPr>
              <a:t> and handled using a multi-step approach :</a:t>
            </a:r>
          </a:p>
          <a:p>
            <a:pPr algn="just"/>
            <a:endParaRPr lang="en-US" sz="2000" dirty="0">
              <a:solidFill>
                <a:srgbClr val="FF0000"/>
              </a:solidFill>
              <a:latin typeface="Times New Roman" panose="02020603050405020304" pitchFamily="18" charset="0"/>
              <a:cs typeface="Times New Roman" panose="02020603050405020304" pitchFamily="18" charset="0"/>
            </a:endParaRPr>
          </a:p>
          <a:p>
            <a:pPr algn="just"/>
            <a:endParaRPr lang="en-US" sz="2000" dirty="0"/>
          </a:p>
          <a:p>
            <a:pPr marL="285750" indent="-285750" algn="just">
              <a:buFont typeface="Wingdings" panose="05000000000000000000" pitchFamily="2" charset="2"/>
              <a:buChar char="ü"/>
            </a:pPr>
            <a:r>
              <a:rPr lang="en-US" sz="2000" dirty="0"/>
              <a:t>First, missing salary values were filled using the </a:t>
            </a:r>
            <a:r>
              <a:rPr lang="en-US" sz="2000" b="1" dirty="0"/>
              <a:t>average salary for each skill group</a:t>
            </a:r>
            <a:r>
              <a:rPr lang="en-US" sz="2000" dirty="0"/>
              <a:t>.</a:t>
            </a:r>
          </a:p>
          <a:p>
            <a:pPr marL="285750" indent="-285750" algn="just">
              <a:buFont typeface="Wingdings" panose="05000000000000000000" pitchFamily="2" charset="2"/>
              <a:buChar char="ü"/>
            </a:pPr>
            <a:endParaRPr lang="en-US" sz="2000" dirty="0"/>
          </a:p>
          <a:p>
            <a:pPr marL="285750" indent="-285750" algn="just">
              <a:buFont typeface="Wingdings" panose="05000000000000000000" pitchFamily="2" charset="2"/>
              <a:buChar char="ü"/>
            </a:pPr>
            <a:endParaRPr lang="en-US" sz="2000" dirty="0"/>
          </a:p>
          <a:p>
            <a:pPr marL="285750" indent="-285750" algn="just">
              <a:buFont typeface="Wingdings" panose="05000000000000000000" pitchFamily="2" charset="2"/>
              <a:buChar char="ü"/>
            </a:pPr>
            <a:endParaRPr lang="en-US" sz="2000" dirty="0"/>
          </a:p>
          <a:p>
            <a:pPr marL="285750" indent="-285750" algn="just">
              <a:buFont typeface="Wingdings" panose="05000000000000000000" pitchFamily="2" charset="2"/>
              <a:buChar char="ü"/>
            </a:pPr>
            <a:r>
              <a:rPr lang="en-US" sz="2000" dirty="0"/>
              <a:t>Remaining missing values were filled using the </a:t>
            </a:r>
            <a:r>
              <a:rPr lang="en-US" sz="2000" b="1" dirty="0"/>
              <a:t>average salary for each experience level.</a:t>
            </a:r>
          </a:p>
          <a:p>
            <a:pPr marL="285750" indent="-285750" algn="just">
              <a:buFont typeface="Wingdings" panose="05000000000000000000" pitchFamily="2" charset="2"/>
              <a:buChar char="ü"/>
            </a:pPr>
            <a:endParaRPr lang="en-US" sz="2000" b="1" dirty="0"/>
          </a:p>
          <a:p>
            <a:pPr marL="285750" indent="-285750" algn="just">
              <a:buFont typeface="Wingdings" panose="05000000000000000000" pitchFamily="2" charset="2"/>
              <a:buChar char="ü"/>
            </a:pPr>
            <a:endParaRPr lang="en-US" sz="2000" b="1" dirty="0"/>
          </a:p>
          <a:p>
            <a:pPr marL="285750" indent="-285750" algn="just">
              <a:buFont typeface="Wingdings" panose="05000000000000000000" pitchFamily="2" charset="2"/>
              <a:buChar char="ü"/>
            </a:pPr>
            <a:endParaRPr lang="en-US" sz="2000" b="1" dirty="0"/>
          </a:p>
          <a:p>
            <a:pPr marL="285750" indent="-285750" algn="just">
              <a:buFont typeface="Wingdings" panose="05000000000000000000" pitchFamily="2" charset="2"/>
              <a:buChar char="ü"/>
            </a:pPr>
            <a:r>
              <a:rPr lang="en-US" sz="2000" dirty="0"/>
              <a:t>Any remaining missing values were finally replaced using the </a:t>
            </a:r>
            <a:r>
              <a:rPr lang="en-US" sz="2000" b="1" dirty="0"/>
              <a:t>overall mean salary</a:t>
            </a:r>
            <a:r>
              <a:rPr lang="en-US" sz="2000" dirty="0"/>
              <a:t>.</a:t>
            </a:r>
          </a:p>
          <a:p>
            <a:pPr algn="just"/>
            <a:endParaRPr lang="en-US" sz="2000" dirty="0"/>
          </a:p>
        </p:txBody>
      </p:sp>
      <p:pic>
        <p:nvPicPr>
          <p:cNvPr id="6" name="Picture 5">
            <a:extLst>
              <a:ext uri="{FF2B5EF4-FFF2-40B4-BE49-F238E27FC236}">
                <a16:creationId xmlns:a16="http://schemas.microsoft.com/office/drawing/2014/main" id="{CB195404-498A-7F56-06B4-7C961E41C837}"/>
              </a:ext>
            </a:extLst>
          </p:cNvPr>
          <p:cNvPicPr>
            <a:picLocks noChangeAspect="1"/>
          </p:cNvPicPr>
          <p:nvPr/>
        </p:nvPicPr>
        <p:blipFill>
          <a:blip r:embed="rId3"/>
          <a:stretch>
            <a:fillRect/>
          </a:stretch>
        </p:blipFill>
        <p:spPr>
          <a:xfrm>
            <a:off x="8852630" y="6017058"/>
            <a:ext cx="3338185" cy="723108"/>
          </a:xfrm>
          <a:prstGeom prst="rect">
            <a:avLst/>
          </a:prstGeom>
        </p:spPr>
      </p:pic>
    </p:spTree>
    <p:extLst>
      <p:ext uri="{BB962C8B-B14F-4D97-AF65-F5344CB8AC3E}">
        <p14:creationId xmlns:p14="http://schemas.microsoft.com/office/powerpoint/2010/main" val="1703699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09">
          <a:extLst>
            <a:ext uri="{FF2B5EF4-FFF2-40B4-BE49-F238E27FC236}">
              <a16:creationId xmlns:a16="http://schemas.microsoft.com/office/drawing/2014/main" id="{1B4F3D54-AB70-28C7-7D27-7483A25FDC41}"/>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00147A69-BEA3-5652-5AED-F72F26E61B33}"/>
              </a:ext>
            </a:extLst>
          </p:cNvPr>
          <p:cNvSpPr txBox="1">
            <a:spLocks noGrp="1"/>
          </p:cNvSpPr>
          <p:nvPr>
            <p:ph idx="1"/>
          </p:nvPr>
        </p:nvSpPr>
        <p:spPr>
          <a:xfrm>
            <a:off x="0" y="0"/>
            <a:ext cx="12192000" cy="6857999"/>
          </a:xfrm>
          <a:prstGeom prst="rect">
            <a:avLst/>
          </a:prstGeom>
          <a:solidFill>
            <a:schemeClr val="tx1"/>
          </a:solidFill>
          <a:ln>
            <a:noFill/>
          </a:ln>
        </p:spPr>
        <p:txBody>
          <a:bodyPr spcFirstLastPara="1" wrap="square" lIns="91425" tIns="45700" rIns="91425" bIns="45700" anchor="t" anchorCtr="0">
            <a:normAutofit/>
          </a:bodyPr>
          <a:lstStyle/>
          <a:p>
            <a:pPr marL="228600" lvl="0" indent="-130810">
              <a:buSzPct val="100000"/>
              <a:buNone/>
            </a:pPr>
            <a:r>
              <a:rPr lang="en-US" dirty="0"/>
              <a:t> </a:t>
            </a:r>
          </a:p>
        </p:txBody>
      </p:sp>
      <p:sp>
        <p:nvSpPr>
          <p:cNvPr id="4" name="TextBox 3">
            <a:extLst>
              <a:ext uri="{FF2B5EF4-FFF2-40B4-BE49-F238E27FC236}">
                <a16:creationId xmlns:a16="http://schemas.microsoft.com/office/drawing/2014/main" id="{B0EA018C-0E63-1C29-203B-FB2522AE98F1}"/>
              </a:ext>
            </a:extLst>
          </p:cNvPr>
          <p:cNvSpPr txBox="1"/>
          <p:nvPr/>
        </p:nvSpPr>
        <p:spPr>
          <a:xfrm>
            <a:off x="551465" y="163813"/>
            <a:ext cx="11076495" cy="1200329"/>
          </a:xfrm>
          <a:prstGeom prst="rect">
            <a:avLst/>
          </a:prstGeom>
          <a:noFill/>
        </p:spPr>
        <p:txBody>
          <a:bodyPr wrap="square" rtlCol="0">
            <a:spAutoFit/>
          </a:bodyPr>
          <a:lstStyle/>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5A29707-DEBC-2407-DFD3-CC0EE1975E1C}"/>
              </a:ext>
            </a:extLst>
          </p:cNvPr>
          <p:cNvSpPr txBox="1"/>
          <p:nvPr/>
        </p:nvSpPr>
        <p:spPr>
          <a:xfrm>
            <a:off x="725863" y="87001"/>
            <a:ext cx="10558021" cy="461665"/>
          </a:xfrm>
          <a:prstGeom prst="rect">
            <a:avLst/>
          </a:prstGeom>
          <a:noFill/>
        </p:spPr>
        <p:txBody>
          <a:bodyPr wrap="square">
            <a:spAutoFit/>
          </a:bodyPr>
          <a:lstStyle/>
          <a:p>
            <a:pPr algn="ctr"/>
            <a:r>
              <a:rPr lang="en-US" sz="2400" b="1" dirty="0">
                <a:solidFill>
                  <a:schemeClr val="accent2"/>
                </a:solidFill>
                <a:latin typeface="Times New Roman" panose="02020603050405020304" pitchFamily="18" charset="0"/>
                <a:ea typeface="Calibri" pitchFamily="34" charset="-122"/>
                <a:cs typeface="Times New Roman" panose="02020603050405020304" pitchFamily="18" charset="0"/>
              </a:rPr>
              <a:t>After Cleaning</a:t>
            </a:r>
          </a:p>
        </p:txBody>
      </p:sp>
      <p:sp>
        <p:nvSpPr>
          <p:cNvPr id="2" name="TextBox 1">
            <a:extLst>
              <a:ext uri="{FF2B5EF4-FFF2-40B4-BE49-F238E27FC236}">
                <a16:creationId xmlns:a16="http://schemas.microsoft.com/office/drawing/2014/main" id="{469D7DAA-6293-D449-23EB-D45FDE4B7086}"/>
              </a:ext>
            </a:extLst>
          </p:cNvPr>
          <p:cNvSpPr txBox="1"/>
          <p:nvPr/>
        </p:nvSpPr>
        <p:spPr>
          <a:xfrm>
            <a:off x="1487545" y="6193614"/>
            <a:ext cx="9034655" cy="707886"/>
          </a:xfrm>
          <a:prstGeom prst="rect">
            <a:avLst/>
          </a:prstGeom>
          <a:noFill/>
        </p:spPr>
        <p:txBody>
          <a:bodyPr wrap="square" rtlCol="0">
            <a:spAutoFit/>
          </a:bodyPr>
          <a:lstStyle/>
          <a:p>
            <a:pPr algn="ctr"/>
            <a:r>
              <a:rPr lang="en-US" sz="2000" b="1" dirty="0">
                <a:solidFill>
                  <a:srgbClr val="FFFF00"/>
                </a:solidFill>
                <a:latin typeface="Times New Roman" panose="02020603050405020304" pitchFamily="18" charset="0"/>
                <a:ea typeface="Calibri" pitchFamily="34" charset="-122"/>
                <a:cs typeface="Times New Roman" panose="02020603050405020304" pitchFamily="18" charset="0"/>
              </a:rPr>
              <a:t>Dataset has 6809 rows and 9 Columns</a:t>
            </a:r>
            <a:endParaRPr lang="en-US" sz="2000" b="1" dirty="0">
              <a:solidFill>
                <a:srgbClr val="FFFF00"/>
              </a:solidFill>
              <a:latin typeface="Times New Roman" panose="02020603050405020304" pitchFamily="18" charset="0"/>
              <a:cs typeface="Times New Roman" panose="02020603050405020304" pitchFamily="18" charset="0"/>
            </a:endParaRPr>
          </a:p>
          <a:p>
            <a:pPr algn="ctr"/>
            <a:endParaRPr lang="en-IN" sz="2000" dirty="0"/>
          </a:p>
        </p:txBody>
      </p:sp>
      <p:pic>
        <p:nvPicPr>
          <p:cNvPr id="6" name="Picture 5">
            <a:extLst>
              <a:ext uri="{FF2B5EF4-FFF2-40B4-BE49-F238E27FC236}">
                <a16:creationId xmlns:a16="http://schemas.microsoft.com/office/drawing/2014/main" id="{03C745DA-205E-7E06-4323-CBD35D7AA80F}"/>
              </a:ext>
            </a:extLst>
          </p:cNvPr>
          <p:cNvPicPr>
            <a:picLocks noChangeAspect="1"/>
          </p:cNvPicPr>
          <p:nvPr/>
        </p:nvPicPr>
        <p:blipFill>
          <a:blip r:embed="rId3"/>
          <a:stretch>
            <a:fillRect/>
          </a:stretch>
        </p:blipFill>
        <p:spPr>
          <a:xfrm>
            <a:off x="852553" y="548666"/>
            <a:ext cx="10431331" cy="5401429"/>
          </a:xfrm>
          <a:prstGeom prst="rect">
            <a:avLst/>
          </a:prstGeom>
        </p:spPr>
      </p:pic>
      <p:pic>
        <p:nvPicPr>
          <p:cNvPr id="3" name="Picture 2">
            <a:extLst>
              <a:ext uri="{FF2B5EF4-FFF2-40B4-BE49-F238E27FC236}">
                <a16:creationId xmlns:a16="http://schemas.microsoft.com/office/drawing/2014/main" id="{2E264482-0454-F7D5-6ADD-CF84B41332CC}"/>
              </a:ext>
            </a:extLst>
          </p:cNvPr>
          <p:cNvPicPr>
            <a:picLocks noChangeAspect="1"/>
          </p:cNvPicPr>
          <p:nvPr/>
        </p:nvPicPr>
        <p:blipFill>
          <a:blip r:embed="rId4"/>
          <a:stretch>
            <a:fillRect/>
          </a:stretch>
        </p:blipFill>
        <p:spPr>
          <a:xfrm>
            <a:off x="8852630" y="6017058"/>
            <a:ext cx="3338185" cy="723108"/>
          </a:xfrm>
          <a:prstGeom prst="rect">
            <a:avLst/>
          </a:prstGeom>
        </p:spPr>
      </p:pic>
    </p:spTree>
    <p:extLst>
      <p:ext uri="{BB962C8B-B14F-4D97-AF65-F5344CB8AC3E}">
        <p14:creationId xmlns:p14="http://schemas.microsoft.com/office/powerpoint/2010/main" val="2660520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09">
          <a:extLst>
            <a:ext uri="{FF2B5EF4-FFF2-40B4-BE49-F238E27FC236}">
              <a16:creationId xmlns:a16="http://schemas.microsoft.com/office/drawing/2014/main" id="{567372A7-6747-D765-28FB-A3987D9FDB32}"/>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8A78D5B9-32A9-230D-1902-992DE6D68F93}"/>
              </a:ext>
            </a:extLst>
          </p:cNvPr>
          <p:cNvSpPr txBox="1">
            <a:spLocks noGrp="1"/>
          </p:cNvSpPr>
          <p:nvPr>
            <p:ph idx="1"/>
          </p:nvPr>
        </p:nvSpPr>
        <p:spPr>
          <a:xfrm>
            <a:off x="0" y="0"/>
            <a:ext cx="12192000" cy="6857999"/>
          </a:xfrm>
          <a:prstGeom prst="rect">
            <a:avLst/>
          </a:prstGeom>
          <a:solidFill>
            <a:schemeClr val="tx1"/>
          </a:solidFill>
          <a:ln>
            <a:noFill/>
          </a:ln>
        </p:spPr>
        <p:txBody>
          <a:bodyPr spcFirstLastPara="1" wrap="square" lIns="91425" tIns="45700" rIns="91425" bIns="45700" anchor="t" anchorCtr="0">
            <a:normAutofit/>
          </a:bodyPr>
          <a:lstStyle/>
          <a:p>
            <a:pPr marL="228600" lvl="0" indent="-130810">
              <a:buSzPct val="100000"/>
              <a:buNone/>
            </a:pPr>
            <a:r>
              <a:rPr lang="en-US" dirty="0"/>
              <a:t> </a:t>
            </a:r>
          </a:p>
        </p:txBody>
      </p:sp>
      <p:sp>
        <p:nvSpPr>
          <p:cNvPr id="9" name="TextBox 8">
            <a:extLst>
              <a:ext uri="{FF2B5EF4-FFF2-40B4-BE49-F238E27FC236}">
                <a16:creationId xmlns:a16="http://schemas.microsoft.com/office/drawing/2014/main" id="{D55D9F19-E9A0-A911-9EC9-296D665CE0A6}"/>
              </a:ext>
            </a:extLst>
          </p:cNvPr>
          <p:cNvSpPr txBox="1"/>
          <p:nvPr/>
        </p:nvSpPr>
        <p:spPr>
          <a:xfrm>
            <a:off x="582293" y="572867"/>
            <a:ext cx="11320022" cy="1323439"/>
          </a:xfrm>
          <a:prstGeom prst="rect">
            <a:avLst/>
          </a:prstGeom>
          <a:noFill/>
        </p:spPr>
        <p:txBody>
          <a:bodyPr wrap="square">
            <a:spAutoFit/>
          </a:bodyPr>
          <a:lstStyle/>
          <a:p>
            <a:pPr algn="just"/>
            <a:r>
              <a:rPr lang="en-US" sz="2000" b="1" u="sng" dirty="0">
                <a:solidFill>
                  <a:srgbClr val="FFFF00"/>
                </a:solidFill>
                <a:latin typeface="Times New Roman" panose="02020603050405020304" pitchFamily="18" charset="0"/>
                <a:cs typeface="Times New Roman" panose="02020603050405020304" pitchFamily="18" charset="0"/>
              </a:rPr>
              <a:t>df.info()</a:t>
            </a:r>
          </a:p>
          <a:p>
            <a:pPr algn="just"/>
            <a:endParaRPr lang="en-US" sz="2000" b="1" u="sng" dirty="0">
              <a:solidFill>
                <a:srgbClr val="FFFF0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sz="2000" dirty="0">
                <a:solidFill>
                  <a:schemeClr val="bg1"/>
                </a:solidFill>
                <a:latin typeface="Times New Roman" panose="02020603050405020304" pitchFamily="18" charset="0"/>
                <a:cs typeface="Times New Roman" panose="02020603050405020304" pitchFamily="18" charset="0"/>
              </a:rPr>
              <a:t>Output is  showing the dataset </a:t>
            </a:r>
            <a:r>
              <a:rPr lang="en-US" sz="2000" b="1" dirty="0">
                <a:solidFill>
                  <a:schemeClr val="accent2"/>
                </a:solidFill>
                <a:latin typeface="Times New Roman" panose="02020603050405020304" pitchFamily="18" charset="0"/>
                <a:cs typeface="Times New Roman" panose="02020603050405020304" pitchFamily="18" charset="0"/>
              </a:rPr>
              <a:t>after data Cleaning , handling missing and duplicates</a:t>
            </a:r>
            <a:endParaRPr lang="en-US" sz="2000" b="1" dirty="0">
              <a:solidFill>
                <a:schemeClr val="bg1"/>
              </a:solidFill>
              <a:latin typeface="Times New Roman" panose="02020603050405020304" pitchFamily="18" charset="0"/>
              <a:cs typeface="Times New Roman" panose="02020603050405020304" pitchFamily="18" charset="0"/>
            </a:endParaRPr>
          </a:p>
          <a:p>
            <a:pPr algn="just"/>
            <a:endParaRPr lang="en-US" sz="2000" dirty="0">
              <a:solidFill>
                <a:schemeClr val="bg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E86BF59-B075-2340-10B9-0F9FA8E4FD48}"/>
              </a:ext>
            </a:extLst>
          </p:cNvPr>
          <p:cNvPicPr>
            <a:picLocks noChangeAspect="1"/>
          </p:cNvPicPr>
          <p:nvPr/>
        </p:nvPicPr>
        <p:blipFill>
          <a:blip r:embed="rId3"/>
          <a:stretch>
            <a:fillRect/>
          </a:stretch>
        </p:blipFill>
        <p:spPr>
          <a:xfrm>
            <a:off x="8853815" y="6111588"/>
            <a:ext cx="3338185" cy="723108"/>
          </a:xfrm>
          <a:prstGeom prst="rect">
            <a:avLst/>
          </a:prstGeom>
        </p:spPr>
      </p:pic>
      <p:pic>
        <p:nvPicPr>
          <p:cNvPr id="2" name="Picture 1">
            <a:extLst>
              <a:ext uri="{FF2B5EF4-FFF2-40B4-BE49-F238E27FC236}">
                <a16:creationId xmlns:a16="http://schemas.microsoft.com/office/drawing/2014/main" id="{B131E253-F68F-0C27-AEBF-EE27BEAB33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69464" y="2085126"/>
            <a:ext cx="6016751" cy="3693884"/>
          </a:xfrm>
          <a:prstGeom prst="rect">
            <a:avLst/>
          </a:prstGeom>
        </p:spPr>
      </p:pic>
    </p:spTree>
    <p:extLst>
      <p:ext uri="{BB962C8B-B14F-4D97-AF65-F5344CB8AC3E}">
        <p14:creationId xmlns:p14="http://schemas.microsoft.com/office/powerpoint/2010/main" val="213541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1" name="Google Shape;111;p4"/>
          <p:cNvSpPr txBox="1">
            <a:spLocks noGrp="1"/>
          </p:cNvSpPr>
          <p:nvPr>
            <p:ph type="body" idx="1"/>
          </p:nvPr>
        </p:nvSpPr>
        <p:spPr>
          <a:xfrm>
            <a:off x="684880" y="311085"/>
            <a:ext cx="10515600" cy="5959283"/>
          </a:xfrm>
          <a:prstGeom prst="rect">
            <a:avLst/>
          </a:prstGeom>
          <a:noFill/>
          <a:ln>
            <a:noFill/>
          </a:ln>
        </p:spPr>
        <p:txBody>
          <a:bodyPr spcFirstLastPara="1" wrap="square" lIns="91425" tIns="45700" rIns="91425" bIns="45700" anchor="t" anchorCtr="0">
            <a:normAutofit/>
          </a:bodyPr>
          <a:lstStyle/>
          <a:p>
            <a:pPr marL="228600" lvl="0" indent="-130810">
              <a:buSzPct val="100000"/>
              <a:buNone/>
            </a:pPr>
            <a:r>
              <a:rPr lang="en-US" dirty="0"/>
              <a:t> </a:t>
            </a:r>
          </a:p>
        </p:txBody>
      </p:sp>
      <p:sp>
        <p:nvSpPr>
          <p:cNvPr id="4" name="TextBox 3">
            <a:extLst>
              <a:ext uri="{FF2B5EF4-FFF2-40B4-BE49-F238E27FC236}">
                <a16:creationId xmlns:a16="http://schemas.microsoft.com/office/drawing/2014/main" id="{1C26B56E-1229-0749-8A0C-F7D417BBBA1E}"/>
              </a:ext>
            </a:extLst>
          </p:cNvPr>
          <p:cNvSpPr txBox="1"/>
          <p:nvPr/>
        </p:nvSpPr>
        <p:spPr>
          <a:xfrm>
            <a:off x="557752" y="218817"/>
            <a:ext cx="11076495" cy="461665"/>
          </a:xfrm>
          <a:prstGeom prst="rect">
            <a:avLst/>
          </a:prstGeom>
          <a:noFill/>
        </p:spPr>
        <p:txBody>
          <a:bodyPr wrap="square" rtlCol="0">
            <a:spAutoFit/>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Column Description</a:t>
            </a:r>
          </a:p>
        </p:txBody>
      </p:sp>
      <p:graphicFrame>
        <p:nvGraphicFramePr>
          <p:cNvPr id="3" name="Table 0">
            <a:extLst>
              <a:ext uri="{FF2B5EF4-FFF2-40B4-BE49-F238E27FC236}">
                <a16:creationId xmlns:a16="http://schemas.microsoft.com/office/drawing/2014/main" id="{5E081F4E-D6B5-6D55-B695-14ACCC6BA1FD}"/>
              </a:ext>
            </a:extLst>
          </p:cNvPr>
          <p:cNvGraphicFramePr>
            <a:graphicFrameLocks noGrp="1"/>
          </p:cNvGraphicFramePr>
          <p:nvPr>
            <p:extLst>
              <p:ext uri="{D42A27DB-BD31-4B8C-83A1-F6EECF244321}">
                <p14:modId xmlns:p14="http://schemas.microsoft.com/office/powerpoint/2010/main" val="1389804891"/>
              </p:ext>
            </p:extLst>
          </p:nvPr>
        </p:nvGraphicFramePr>
        <p:xfrm>
          <a:off x="1229755" y="932565"/>
          <a:ext cx="9732487" cy="4716322"/>
        </p:xfrm>
        <a:graphic>
          <a:graphicData uri="http://schemas.openxmlformats.org/drawingml/2006/table">
            <a:tbl>
              <a:tblPr/>
              <a:tblGrid>
                <a:gridCol w="2425212">
                  <a:extLst>
                    <a:ext uri="{9D8B030D-6E8A-4147-A177-3AD203B41FA5}">
                      <a16:colId xmlns:a16="http://schemas.microsoft.com/office/drawing/2014/main" val="20000"/>
                    </a:ext>
                  </a:extLst>
                </a:gridCol>
                <a:gridCol w="1721468">
                  <a:extLst>
                    <a:ext uri="{9D8B030D-6E8A-4147-A177-3AD203B41FA5}">
                      <a16:colId xmlns:a16="http://schemas.microsoft.com/office/drawing/2014/main" val="20001"/>
                    </a:ext>
                  </a:extLst>
                </a:gridCol>
                <a:gridCol w="5585807">
                  <a:extLst>
                    <a:ext uri="{9D8B030D-6E8A-4147-A177-3AD203B41FA5}">
                      <a16:colId xmlns:a16="http://schemas.microsoft.com/office/drawing/2014/main" val="20002"/>
                    </a:ext>
                  </a:extLst>
                </a:gridCol>
              </a:tblGrid>
              <a:tr h="394708">
                <a:tc>
                  <a:txBody>
                    <a:bodyPr/>
                    <a:lstStyle/>
                    <a:p>
                      <a:pPr marL="0" lvl="0" indent="0">
                        <a:lnSpc>
                          <a:spcPct val="100000"/>
                        </a:lnSpc>
                        <a:buFont typeface="+mj-lt"/>
                        <a:buNone/>
                      </a:pPr>
                      <a:r>
                        <a:rPr lang="en-US" sz="1800" b="1" dirty="0">
                          <a:solidFill>
                            <a:schemeClr val="bg1"/>
                          </a:solidFill>
                          <a:latin typeface="Times New Roman" panose="02020603050405020304" pitchFamily="18" charset="0"/>
                          <a:ea typeface="Calibri" pitchFamily="34" charset="-122"/>
                          <a:cs typeface="Times New Roman" panose="02020603050405020304" pitchFamily="18" charset="0"/>
                        </a:rPr>
                        <a:t>Column</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1565C0"/>
                    </a:solidFill>
                  </a:tcPr>
                </a:tc>
                <a:tc>
                  <a:txBody>
                    <a:bodyPr/>
                    <a:lstStyle/>
                    <a:p>
                      <a:pPr marL="0" lvl="0" indent="0">
                        <a:lnSpc>
                          <a:spcPct val="100000"/>
                        </a:lnSpc>
                        <a:buFont typeface="+mj-lt"/>
                        <a:buNone/>
                      </a:pPr>
                      <a:r>
                        <a:rPr lang="en-US" sz="1800" b="1" dirty="0">
                          <a:solidFill>
                            <a:schemeClr val="bg1"/>
                          </a:solidFill>
                          <a:latin typeface="Times New Roman" panose="02020603050405020304" pitchFamily="18" charset="0"/>
                          <a:ea typeface="Calibri" pitchFamily="34" charset="-122"/>
                          <a:cs typeface="Times New Roman" panose="02020603050405020304" pitchFamily="18" charset="0"/>
                        </a:rPr>
                        <a:t>Type</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1565C0"/>
                    </a:solidFill>
                  </a:tcPr>
                </a:tc>
                <a:tc>
                  <a:txBody>
                    <a:bodyPr/>
                    <a:lstStyle/>
                    <a:p>
                      <a:pPr marL="0" lvl="0" indent="0" algn="l">
                        <a:lnSpc>
                          <a:spcPct val="100000"/>
                        </a:lnSpc>
                        <a:buFont typeface="+mj-lt"/>
                        <a:buNone/>
                      </a:pPr>
                      <a:r>
                        <a:rPr lang="en-US" sz="1800" b="1" dirty="0">
                          <a:solidFill>
                            <a:schemeClr val="bg1"/>
                          </a:solidFill>
                          <a:latin typeface="Times New Roman" panose="02020603050405020304" pitchFamily="18" charset="0"/>
                          <a:ea typeface="Calibri" pitchFamily="34" charset="-122"/>
                          <a:cs typeface="Times New Roman" panose="02020603050405020304" pitchFamily="18" charset="0"/>
                        </a:rPr>
                        <a:t>Description</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82666">
                <a:tc>
                  <a:txBody>
                    <a:bodyPr/>
                    <a:lstStyle/>
                    <a:p>
                      <a:pPr marL="457200" lvl="0" indent="-457200">
                        <a:lnSpc>
                          <a:spcPct val="100000"/>
                        </a:lnSpc>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Company</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122038"/>
                    </a:solidFill>
                  </a:tcPr>
                </a:tc>
                <a:tc>
                  <a:txBody>
                    <a:bodyPr/>
                    <a:lstStyle/>
                    <a:p>
                      <a:pPr marL="0" lvl="0" indent="0">
                        <a:lnSpc>
                          <a:spcPct val="100000"/>
                        </a:lnSpc>
                        <a:buFont typeface="+mj-lt"/>
                        <a:buNone/>
                      </a:pPr>
                      <a:r>
                        <a:rPr lang="en-US" sz="1800" dirty="0">
                          <a:solidFill>
                            <a:schemeClr val="bg1"/>
                          </a:solidFill>
                          <a:latin typeface="Times New Roman" panose="02020603050405020304" pitchFamily="18" charset="0"/>
                          <a:ea typeface="Calibri" pitchFamily="34" charset="-122"/>
                          <a:cs typeface="Times New Roman" panose="02020603050405020304" pitchFamily="18" charset="0"/>
                        </a:rPr>
                        <a:t>Object</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122038"/>
                    </a:solidFill>
                  </a:tcPr>
                </a:tc>
                <a:tc>
                  <a:txBody>
                    <a:bodyPr/>
                    <a:lstStyle/>
                    <a:p>
                      <a:pPr marL="0" lvl="0" indent="0" algn="l">
                        <a:lnSpc>
                          <a:spcPct val="100000"/>
                        </a:lnSpc>
                        <a:buFont typeface="+mj-lt"/>
                        <a:buNone/>
                      </a:pPr>
                      <a:r>
                        <a:rPr lang="en-US" dirty="0">
                          <a:solidFill>
                            <a:schemeClr val="bg1"/>
                          </a:solidFill>
                          <a:latin typeface="Times New Roman" panose="02020603050405020304" pitchFamily="18" charset="0"/>
                          <a:cs typeface="Times New Roman" panose="02020603050405020304" pitchFamily="18" charset="0"/>
                        </a:rPr>
                        <a:t>Name of the company offering the job position</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122038"/>
                    </a:solidFill>
                  </a:tcPr>
                </a:tc>
                <a:extLst>
                  <a:ext uri="{0D108BD9-81ED-4DB2-BD59-A6C34878D82A}">
                    <a16:rowId xmlns:a16="http://schemas.microsoft.com/office/drawing/2014/main" val="10001"/>
                  </a:ext>
                </a:extLst>
              </a:tr>
              <a:tr h="487680">
                <a:tc>
                  <a:txBody>
                    <a:bodyPr/>
                    <a:lstStyle/>
                    <a:p>
                      <a:pPr marL="0" lvl="0" indent="0">
                        <a:lnSpc>
                          <a:spcPct val="100000"/>
                        </a:lnSpc>
                        <a:buFont typeface="+mj-lt"/>
                        <a:buNone/>
                      </a:pPr>
                      <a:r>
                        <a:rPr lang="en-US" sz="1800" dirty="0">
                          <a:solidFill>
                            <a:schemeClr val="bg1"/>
                          </a:solidFill>
                          <a:latin typeface="Times New Roman" panose="02020603050405020304" pitchFamily="18" charset="0"/>
                          <a:ea typeface="Calibri" pitchFamily="34" charset="-122"/>
                          <a:cs typeface="Times New Roman" panose="02020603050405020304" pitchFamily="18" charset="0"/>
                        </a:rPr>
                        <a:t>2.     </a:t>
                      </a:r>
                      <a:r>
                        <a:rPr lang="en-US" dirty="0">
                          <a:solidFill>
                            <a:schemeClr val="bg1"/>
                          </a:solidFill>
                          <a:latin typeface="Times New Roman" panose="02020603050405020304" pitchFamily="18" charset="0"/>
                          <a:cs typeface="Times New Roman" panose="02020603050405020304" pitchFamily="18" charset="0"/>
                        </a:rPr>
                        <a:t>Role</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0A1522"/>
                    </a:solidFill>
                  </a:tcPr>
                </a:tc>
                <a:tc>
                  <a:txBody>
                    <a:bodyPr/>
                    <a:lstStyle/>
                    <a:p>
                      <a:pPr marL="0" lvl="0" indent="0">
                        <a:lnSpc>
                          <a:spcPct val="100000"/>
                        </a:lnSpc>
                        <a:buFont typeface="+mj-lt"/>
                        <a:buNone/>
                      </a:pPr>
                      <a:r>
                        <a:rPr lang="en-US" sz="1800" dirty="0">
                          <a:solidFill>
                            <a:schemeClr val="bg1"/>
                          </a:solidFill>
                          <a:latin typeface="Times New Roman" panose="02020603050405020304" pitchFamily="18" charset="0"/>
                          <a:ea typeface="Calibri" pitchFamily="34" charset="-122"/>
                          <a:cs typeface="Times New Roman" panose="02020603050405020304" pitchFamily="18" charset="0"/>
                        </a:rPr>
                        <a:t>Object</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0A1522"/>
                    </a:solidFill>
                  </a:tcPr>
                </a:tc>
                <a:tc>
                  <a:txBody>
                    <a:bodyPr/>
                    <a:lstStyle/>
                    <a:p>
                      <a:pPr marL="0" lvl="0" indent="0" algn="l">
                        <a:lnSpc>
                          <a:spcPct val="100000"/>
                        </a:lnSpc>
                        <a:buFont typeface="+mj-lt"/>
                        <a:buNone/>
                      </a:pPr>
                      <a:r>
                        <a:rPr lang="en-US" dirty="0">
                          <a:solidFill>
                            <a:schemeClr val="bg1"/>
                          </a:solidFill>
                          <a:latin typeface="Times New Roman" panose="02020603050405020304" pitchFamily="18" charset="0"/>
                          <a:cs typeface="Times New Roman" panose="02020603050405020304" pitchFamily="18" charset="0"/>
                        </a:rPr>
                        <a:t>Title of the job role or position</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0A1522"/>
                    </a:solidFill>
                  </a:tcPr>
                </a:tc>
                <a:extLst>
                  <a:ext uri="{0D108BD9-81ED-4DB2-BD59-A6C34878D82A}">
                    <a16:rowId xmlns:a16="http://schemas.microsoft.com/office/drawing/2014/main" val="10002"/>
                  </a:ext>
                </a:extLst>
              </a:tr>
              <a:tr h="538480">
                <a:tc>
                  <a:txBody>
                    <a:bodyPr/>
                    <a:lstStyle/>
                    <a:p>
                      <a:pPr marL="0" lvl="0" indent="0">
                        <a:lnSpc>
                          <a:spcPct val="100000"/>
                        </a:lnSpc>
                        <a:buFont typeface="+mj-lt"/>
                        <a:buNone/>
                      </a:pPr>
                      <a:r>
                        <a:rPr lang="en-US" sz="1800" dirty="0">
                          <a:solidFill>
                            <a:schemeClr val="bg1"/>
                          </a:solidFill>
                          <a:latin typeface="Times New Roman" panose="02020603050405020304" pitchFamily="18" charset="0"/>
                          <a:ea typeface="Calibri" pitchFamily="34" charset="-122"/>
                          <a:cs typeface="Times New Roman" panose="02020603050405020304" pitchFamily="18" charset="0"/>
                        </a:rPr>
                        <a:t>3.    </a:t>
                      </a:r>
                      <a:r>
                        <a:rPr lang="en-US" dirty="0">
                          <a:solidFill>
                            <a:schemeClr val="bg1"/>
                          </a:solidFill>
                          <a:latin typeface="Times New Roman" panose="02020603050405020304" pitchFamily="18" charset="0"/>
                          <a:cs typeface="Times New Roman" panose="02020603050405020304" pitchFamily="18" charset="0"/>
                        </a:rPr>
                        <a:t>Skills</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0A1522"/>
                    </a:solidFill>
                  </a:tcPr>
                </a:tc>
                <a:tc>
                  <a:txBody>
                    <a:bodyPr/>
                    <a:lstStyle/>
                    <a:p>
                      <a:pPr marL="0" lvl="0" indent="0">
                        <a:lnSpc>
                          <a:spcPct val="100000"/>
                        </a:lnSpc>
                        <a:buFont typeface="+mj-lt"/>
                        <a:buNone/>
                      </a:pPr>
                      <a:r>
                        <a:rPr lang="en-US" sz="1800" dirty="0">
                          <a:solidFill>
                            <a:schemeClr val="bg1"/>
                          </a:solidFill>
                          <a:latin typeface="Times New Roman" panose="02020603050405020304" pitchFamily="18" charset="0"/>
                          <a:ea typeface="Calibri" pitchFamily="34" charset="-122"/>
                          <a:cs typeface="Times New Roman" panose="02020603050405020304" pitchFamily="18" charset="0"/>
                        </a:rPr>
                        <a:t>Object</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0A1522"/>
                    </a:solidFill>
                  </a:tcPr>
                </a:tc>
                <a:tc>
                  <a:txBody>
                    <a:bodyPr/>
                    <a:lstStyle/>
                    <a:p>
                      <a:pPr marL="0" lvl="0" indent="0" algn="l">
                        <a:lnSpc>
                          <a:spcPct val="100000"/>
                        </a:lnSpc>
                        <a:buFont typeface="+mj-lt"/>
                        <a:buNone/>
                      </a:pPr>
                      <a:r>
                        <a:rPr lang="en-US" dirty="0">
                          <a:solidFill>
                            <a:schemeClr val="bg1"/>
                          </a:solidFill>
                          <a:latin typeface="Times New Roman" panose="02020603050405020304" pitchFamily="18" charset="0"/>
                          <a:cs typeface="Times New Roman" panose="02020603050405020304" pitchFamily="18" charset="0"/>
                        </a:rPr>
                        <a:t>Technical skills required for the job</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0A1522"/>
                    </a:solidFill>
                  </a:tcPr>
                </a:tc>
                <a:extLst>
                  <a:ext uri="{0D108BD9-81ED-4DB2-BD59-A6C34878D82A}">
                    <a16:rowId xmlns:a16="http://schemas.microsoft.com/office/drawing/2014/main" val="10004"/>
                  </a:ext>
                </a:extLst>
              </a:tr>
              <a:tr h="477520">
                <a:tc>
                  <a:txBody>
                    <a:bodyPr/>
                    <a:lstStyle/>
                    <a:p>
                      <a:pPr marL="0" lvl="0" indent="0">
                        <a:lnSpc>
                          <a:spcPct val="100000"/>
                        </a:lnSpc>
                        <a:buFont typeface="+mj-lt"/>
                        <a:buNone/>
                      </a:pPr>
                      <a:r>
                        <a:rPr lang="en-US" sz="1800" dirty="0">
                          <a:solidFill>
                            <a:schemeClr val="bg1"/>
                          </a:solidFill>
                          <a:latin typeface="Times New Roman" panose="02020603050405020304" pitchFamily="18" charset="0"/>
                          <a:ea typeface="Calibri" pitchFamily="34" charset="-122"/>
                          <a:cs typeface="Times New Roman" panose="02020603050405020304" pitchFamily="18" charset="0"/>
                        </a:rPr>
                        <a:t>4.    </a:t>
                      </a:r>
                      <a:r>
                        <a:rPr lang="en-US" dirty="0">
                          <a:solidFill>
                            <a:schemeClr val="bg1"/>
                          </a:solidFill>
                          <a:latin typeface="Times New Roman" panose="02020603050405020304" pitchFamily="18" charset="0"/>
                          <a:cs typeface="Times New Roman" panose="02020603050405020304" pitchFamily="18" charset="0"/>
                        </a:rPr>
                        <a:t>Location</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122038"/>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800" dirty="0">
                          <a:solidFill>
                            <a:schemeClr val="bg1"/>
                          </a:solidFill>
                          <a:latin typeface="Times New Roman" panose="02020603050405020304" pitchFamily="18" charset="0"/>
                          <a:ea typeface="Calibri" pitchFamily="34" charset="-122"/>
                          <a:cs typeface="Times New Roman" panose="02020603050405020304" pitchFamily="18" charset="0"/>
                        </a:rPr>
                        <a:t>Object</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122038"/>
                    </a:solidFill>
                  </a:tcPr>
                </a:tc>
                <a:tc>
                  <a:txBody>
                    <a:bodyPr/>
                    <a:lstStyle/>
                    <a:p>
                      <a:pPr marL="0" lvl="0" indent="0" algn="l">
                        <a:lnSpc>
                          <a:spcPct val="100000"/>
                        </a:lnSpc>
                        <a:buFont typeface="+mj-lt"/>
                        <a:buNone/>
                      </a:pPr>
                      <a:r>
                        <a:rPr lang="en-US" dirty="0">
                          <a:solidFill>
                            <a:schemeClr val="bg1"/>
                          </a:solidFill>
                          <a:latin typeface="Times New Roman" panose="02020603050405020304" pitchFamily="18" charset="0"/>
                          <a:cs typeface="Times New Roman" panose="02020603050405020304" pitchFamily="18" charset="0"/>
                        </a:rPr>
                        <a:t>City where the job opportunity is located</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122038"/>
                    </a:solidFill>
                  </a:tcPr>
                </a:tc>
                <a:extLst>
                  <a:ext uri="{0D108BD9-81ED-4DB2-BD59-A6C34878D82A}">
                    <a16:rowId xmlns:a16="http://schemas.microsoft.com/office/drawing/2014/main" val="10005"/>
                  </a:ext>
                </a:extLst>
              </a:tr>
              <a:tr h="497840">
                <a:tc>
                  <a:txBody>
                    <a:bodyPr/>
                    <a:lstStyle/>
                    <a:p>
                      <a:pPr marL="0" lvl="0" indent="0">
                        <a:lnSpc>
                          <a:spcPct val="100000"/>
                        </a:lnSpc>
                        <a:buFont typeface="+mj-lt"/>
                        <a:buNone/>
                      </a:pPr>
                      <a:r>
                        <a:rPr lang="en-US" sz="1800" dirty="0">
                          <a:solidFill>
                            <a:schemeClr val="bg1"/>
                          </a:solidFill>
                          <a:latin typeface="Times New Roman" panose="02020603050405020304" pitchFamily="18" charset="0"/>
                          <a:ea typeface="Calibri" pitchFamily="34" charset="-122"/>
                          <a:cs typeface="Times New Roman" panose="02020603050405020304" pitchFamily="18" charset="0"/>
                        </a:rPr>
                        <a:t>5.    </a:t>
                      </a:r>
                      <a:r>
                        <a:rPr lang="en-US" dirty="0" err="1">
                          <a:solidFill>
                            <a:schemeClr val="bg1"/>
                          </a:solidFill>
                          <a:latin typeface="Times New Roman" panose="02020603050405020304" pitchFamily="18" charset="0"/>
                          <a:cs typeface="Times New Roman" panose="02020603050405020304" pitchFamily="18" charset="0"/>
                        </a:rPr>
                        <a:t>Min_Exp</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0A1522"/>
                    </a:solidFill>
                  </a:tcPr>
                </a:tc>
                <a:tc>
                  <a:txBody>
                    <a:bodyPr/>
                    <a:lstStyle/>
                    <a:p>
                      <a:pPr marL="0" lvl="0" indent="0">
                        <a:lnSpc>
                          <a:spcPct val="100000"/>
                        </a:lnSpc>
                        <a:buFont typeface="+mj-lt"/>
                        <a:buNone/>
                      </a:pPr>
                      <a:r>
                        <a:rPr lang="en-US" sz="1800" dirty="0">
                          <a:solidFill>
                            <a:schemeClr val="bg1"/>
                          </a:solidFill>
                          <a:latin typeface="Times New Roman" panose="02020603050405020304" pitchFamily="18" charset="0"/>
                          <a:ea typeface="Calibri" pitchFamily="34" charset="-122"/>
                          <a:cs typeface="Times New Roman" panose="02020603050405020304" pitchFamily="18" charset="0"/>
                        </a:rPr>
                        <a:t>Float</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0A1522"/>
                    </a:solidFill>
                  </a:tcPr>
                </a:tc>
                <a:tc>
                  <a:txBody>
                    <a:bodyPr/>
                    <a:lstStyle/>
                    <a:p>
                      <a:pPr marL="0" lvl="0" indent="0" algn="l">
                        <a:lnSpc>
                          <a:spcPct val="100000"/>
                        </a:lnSpc>
                        <a:buFont typeface="+mj-lt"/>
                        <a:buNone/>
                      </a:pPr>
                      <a:r>
                        <a:rPr lang="en-US" dirty="0">
                          <a:solidFill>
                            <a:schemeClr val="bg1"/>
                          </a:solidFill>
                          <a:latin typeface="Times New Roman" panose="02020603050405020304" pitchFamily="18" charset="0"/>
                          <a:cs typeface="Times New Roman" panose="02020603050405020304" pitchFamily="18" charset="0"/>
                        </a:rPr>
                        <a:t>Minimum years of experience required</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0A1522"/>
                    </a:solidFill>
                  </a:tcPr>
                </a:tc>
                <a:extLst>
                  <a:ext uri="{0D108BD9-81ED-4DB2-BD59-A6C34878D82A}">
                    <a16:rowId xmlns:a16="http://schemas.microsoft.com/office/drawing/2014/main" val="10006"/>
                  </a:ext>
                </a:extLst>
              </a:tr>
              <a:tr h="538480">
                <a:tc>
                  <a:txBody>
                    <a:bodyPr/>
                    <a:lstStyle/>
                    <a:p>
                      <a:pPr marL="0" lvl="0" indent="0">
                        <a:lnSpc>
                          <a:spcPct val="100000"/>
                        </a:lnSpc>
                        <a:buFont typeface="+mj-lt"/>
                        <a:buNone/>
                      </a:pPr>
                      <a:r>
                        <a:rPr lang="en-US" sz="1800" dirty="0">
                          <a:solidFill>
                            <a:schemeClr val="bg1"/>
                          </a:solidFill>
                          <a:latin typeface="Times New Roman" panose="02020603050405020304" pitchFamily="18" charset="0"/>
                          <a:ea typeface="Calibri" pitchFamily="34" charset="-122"/>
                          <a:cs typeface="Times New Roman" panose="02020603050405020304" pitchFamily="18" charset="0"/>
                        </a:rPr>
                        <a:t>6.    </a:t>
                      </a:r>
                      <a:r>
                        <a:rPr lang="en-US" dirty="0" err="1">
                          <a:solidFill>
                            <a:schemeClr val="bg1"/>
                          </a:solidFill>
                          <a:latin typeface="Times New Roman" panose="02020603050405020304" pitchFamily="18" charset="0"/>
                          <a:cs typeface="Times New Roman" panose="02020603050405020304" pitchFamily="18" charset="0"/>
                        </a:rPr>
                        <a:t>Max_Exp</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122038"/>
                    </a:solidFill>
                  </a:tcPr>
                </a:tc>
                <a:tc>
                  <a:txBody>
                    <a:bodyPr/>
                    <a:lstStyle/>
                    <a:p>
                      <a:pPr marL="0" lvl="0" indent="0">
                        <a:lnSpc>
                          <a:spcPct val="100000"/>
                        </a:lnSpc>
                        <a:buFont typeface="+mj-lt"/>
                        <a:buNone/>
                      </a:pPr>
                      <a:r>
                        <a:rPr lang="en-US" sz="1800" dirty="0">
                          <a:solidFill>
                            <a:schemeClr val="bg1"/>
                          </a:solidFill>
                          <a:latin typeface="Times New Roman" panose="02020603050405020304" pitchFamily="18" charset="0"/>
                          <a:ea typeface="Calibri" pitchFamily="34" charset="-122"/>
                          <a:cs typeface="Times New Roman" panose="02020603050405020304" pitchFamily="18" charset="0"/>
                        </a:rPr>
                        <a:t>Float</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122038"/>
                    </a:solidFill>
                  </a:tcPr>
                </a:tc>
                <a:tc>
                  <a:txBody>
                    <a:bodyPr/>
                    <a:lstStyle/>
                    <a:p>
                      <a:pPr marL="0" lvl="0" indent="0" algn="l">
                        <a:lnSpc>
                          <a:spcPct val="100000"/>
                        </a:lnSpc>
                        <a:buFont typeface="+mj-lt"/>
                        <a:buNone/>
                      </a:pPr>
                      <a:r>
                        <a:rPr lang="en-US" dirty="0">
                          <a:solidFill>
                            <a:schemeClr val="bg1"/>
                          </a:solidFill>
                          <a:latin typeface="Times New Roman" panose="02020603050405020304" pitchFamily="18" charset="0"/>
                          <a:cs typeface="Times New Roman" panose="02020603050405020304" pitchFamily="18" charset="0"/>
                        </a:rPr>
                        <a:t>Maximum years of experience required</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122038"/>
                    </a:solidFill>
                  </a:tcPr>
                </a:tc>
                <a:extLst>
                  <a:ext uri="{0D108BD9-81ED-4DB2-BD59-A6C34878D82A}">
                    <a16:rowId xmlns:a16="http://schemas.microsoft.com/office/drawing/2014/main" val="10007"/>
                  </a:ext>
                </a:extLst>
              </a:tr>
              <a:tr h="436880">
                <a:tc>
                  <a:txBody>
                    <a:bodyPr/>
                    <a:lstStyle/>
                    <a:p>
                      <a:pPr marL="0" lvl="0" indent="0">
                        <a:lnSpc>
                          <a:spcPct val="100000"/>
                        </a:lnSpc>
                        <a:buFont typeface="+mj-lt"/>
                        <a:buNone/>
                      </a:pPr>
                      <a:r>
                        <a:rPr lang="en-US" sz="1800" dirty="0">
                          <a:solidFill>
                            <a:schemeClr val="bg1"/>
                          </a:solidFill>
                          <a:latin typeface="Times New Roman" panose="02020603050405020304" pitchFamily="18" charset="0"/>
                          <a:ea typeface="Calibri" pitchFamily="34" charset="-122"/>
                          <a:cs typeface="Times New Roman" panose="02020603050405020304" pitchFamily="18" charset="0"/>
                        </a:rPr>
                        <a:t>7.    </a:t>
                      </a:r>
                      <a:r>
                        <a:rPr lang="en-US" dirty="0" err="1">
                          <a:solidFill>
                            <a:schemeClr val="bg1"/>
                          </a:solidFill>
                          <a:latin typeface="Times New Roman" panose="02020603050405020304" pitchFamily="18" charset="0"/>
                          <a:cs typeface="Times New Roman" panose="02020603050405020304" pitchFamily="18" charset="0"/>
                        </a:rPr>
                        <a:t>Emp_Type</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0A1522"/>
                    </a:solidFill>
                  </a:tcPr>
                </a:tc>
                <a:tc>
                  <a:txBody>
                    <a:bodyPr/>
                    <a:lstStyle/>
                    <a:p>
                      <a:pPr marL="0" lvl="0" indent="0">
                        <a:lnSpc>
                          <a:spcPct val="100000"/>
                        </a:lnSpc>
                        <a:buFont typeface="+mj-lt"/>
                        <a:buNone/>
                      </a:pPr>
                      <a:r>
                        <a:rPr lang="en-US" sz="1800" dirty="0">
                          <a:solidFill>
                            <a:schemeClr val="bg1"/>
                          </a:solidFill>
                          <a:latin typeface="Times New Roman" panose="02020603050405020304" pitchFamily="18" charset="0"/>
                          <a:ea typeface="Calibri" pitchFamily="34" charset="-122"/>
                          <a:cs typeface="Times New Roman" panose="02020603050405020304" pitchFamily="18" charset="0"/>
                        </a:rPr>
                        <a:t>Object</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0A1522"/>
                    </a:solidFill>
                  </a:tcPr>
                </a:tc>
                <a:tc>
                  <a:txBody>
                    <a:bodyPr/>
                    <a:lstStyle/>
                    <a:p>
                      <a:pPr marL="0" lvl="0" indent="0" algn="l">
                        <a:lnSpc>
                          <a:spcPct val="100000"/>
                        </a:lnSpc>
                        <a:buFont typeface="+mj-lt"/>
                        <a:buNone/>
                      </a:pPr>
                      <a:r>
                        <a:rPr lang="en-US" dirty="0">
                          <a:solidFill>
                            <a:schemeClr val="bg1"/>
                          </a:solidFill>
                          <a:latin typeface="Times New Roman" panose="02020603050405020304" pitchFamily="18" charset="0"/>
                          <a:cs typeface="Times New Roman" panose="02020603050405020304" pitchFamily="18" charset="0"/>
                        </a:rPr>
                        <a:t>Type of employment (Full-time, Contract, etc.)</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0A1522"/>
                    </a:solidFill>
                  </a:tcPr>
                </a:tc>
                <a:extLst>
                  <a:ext uri="{0D108BD9-81ED-4DB2-BD59-A6C34878D82A}">
                    <a16:rowId xmlns:a16="http://schemas.microsoft.com/office/drawing/2014/main" val="10008"/>
                  </a:ext>
                </a:extLst>
              </a:tr>
              <a:tr h="467360">
                <a:tc>
                  <a:txBody>
                    <a:bodyPr/>
                    <a:lstStyle/>
                    <a:p>
                      <a:pPr marL="0" lvl="0" indent="0">
                        <a:lnSpc>
                          <a:spcPct val="100000"/>
                        </a:lnSpc>
                        <a:buFont typeface="+mj-lt"/>
                        <a:buNone/>
                      </a:pPr>
                      <a:r>
                        <a:rPr lang="en-US" sz="1800" dirty="0">
                          <a:solidFill>
                            <a:schemeClr val="bg1"/>
                          </a:solidFill>
                          <a:latin typeface="Times New Roman" panose="02020603050405020304" pitchFamily="18" charset="0"/>
                          <a:ea typeface="Calibri" pitchFamily="34" charset="-122"/>
                          <a:cs typeface="Times New Roman" panose="02020603050405020304" pitchFamily="18" charset="0"/>
                        </a:rPr>
                        <a:t>8.    </a:t>
                      </a:r>
                      <a:r>
                        <a:rPr lang="en-US" dirty="0">
                          <a:solidFill>
                            <a:schemeClr val="bg1"/>
                          </a:solidFill>
                          <a:latin typeface="Times New Roman" panose="02020603050405020304" pitchFamily="18" charset="0"/>
                          <a:cs typeface="Times New Roman" panose="02020603050405020304" pitchFamily="18" charset="0"/>
                        </a:rPr>
                        <a:t>Source</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122038"/>
                    </a:solidFill>
                  </a:tcPr>
                </a:tc>
                <a:tc>
                  <a:txBody>
                    <a:bodyPr/>
                    <a:lstStyle/>
                    <a:p>
                      <a:pPr marL="0" lvl="0" indent="0">
                        <a:lnSpc>
                          <a:spcPct val="100000"/>
                        </a:lnSpc>
                        <a:buFont typeface="+mj-lt"/>
                        <a:buNone/>
                      </a:pPr>
                      <a:r>
                        <a:rPr lang="en-US" sz="1800" dirty="0">
                          <a:solidFill>
                            <a:schemeClr val="bg1"/>
                          </a:solidFill>
                          <a:latin typeface="Times New Roman" panose="02020603050405020304" pitchFamily="18" charset="0"/>
                          <a:ea typeface="Calibri" pitchFamily="34" charset="-122"/>
                          <a:cs typeface="Times New Roman" panose="02020603050405020304" pitchFamily="18" charset="0"/>
                        </a:rPr>
                        <a:t>Object</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122038"/>
                    </a:solidFill>
                  </a:tcPr>
                </a:tc>
                <a:tc>
                  <a:txBody>
                    <a:bodyPr/>
                    <a:lstStyle/>
                    <a:p>
                      <a:pPr marL="0" lvl="0" indent="0" algn="l">
                        <a:lnSpc>
                          <a:spcPct val="100000"/>
                        </a:lnSpc>
                        <a:buFont typeface="+mj-lt"/>
                        <a:buNone/>
                      </a:pPr>
                      <a:r>
                        <a:rPr lang="en-US" dirty="0">
                          <a:solidFill>
                            <a:schemeClr val="bg1"/>
                          </a:solidFill>
                          <a:latin typeface="Times New Roman" panose="02020603050405020304" pitchFamily="18" charset="0"/>
                          <a:cs typeface="Times New Roman" panose="02020603050405020304" pitchFamily="18" charset="0"/>
                        </a:rPr>
                        <a:t>Job platform from which the listing was collected</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122038"/>
                    </a:solidFill>
                  </a:tcPr>
                </a:tc>
                <a:extLst>
                  <a:ext uri="{0D108BD9-81ED-4DB2-BD59-A6C34878D82A}">
                    <a16:rowId xmlns:a16="http://schemas.microsoft.com/office/drawing/2014/main" val="10009"/>
                  </a:ext>
                </a:extLst>
              </a:tr>
              <a:tr h="394708">
                <a:tc>
                  <a:txBody>
                    <a:bodyPr/>
                    <a:lstStyle/>
                    <a:p>
                      <a:pPr marL="0" lvl="0" indent="0">
                        <a:lnSpc>
                          <a:spcPct val="100000"/>
                        </a:lnSpc>
                        <a:buFont typeface="+mj-lt"/>
                        <a:buNone/>
                      </a:pPr>
                      <a:r>
                        <a:rPr lang="en-US" sz="1800" dirty="0">
                          <a:solidFill>
                            <a:schemeClr val="bg1"/>
                          </a:solidFill>
                          <a:latin typeface="Times New Roman" panose="02020603050405020304" pitchFamily="18" charset="0"/>
                          <a:ea typeface="Calibri" pitchFamily="34" charset="-122"/>
                          <a:cs typeface="Times New Roman" panose="02020603050405020304" pitchFamily="18" charset="0"/>
                        </a:rPr>
                        <a:t>9.  </a:t>
                      </a:r>
                      <a:r>
                        <a:rPr lang="en-US" dirty="0">
                          <a:solidFill>
                            <a:schemeClr val="bg1"/>
                          </a:solidFill>
                          <a:latin typeface="Times New Roman" panose="02020603050405020304" pitchFamily="18" charset="0"/>
                          <a:cs typeface="Times New Roman" panose="02020603050405020304" pitchFamily="18" charset="0"/>
                        </a:rPr>
                        <a:t>Salary</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0A1522"/>
                    </a:solidFill>
                  </a:tcPr>
                </a:tc>
                <a:tc>
                  <a:txBody>
                    <a:bodyPr/>
                    <a:lstStyle/>
                    <a:p>
                      <a:pPr marL="0" lvl="0" indent="0">
                        <a:lnSpc>
                          <a:spcPct val="100000"/>
                        </a:lnSpc>
                        <a:buFont typeface="+mj-lt"/>
                        <a:buNone/>
                      </a:pPr>
                      <a:r>
                        <a:rPr lang="en-US" sz="1800" dirty="0">
                          <a:solidFill>
                            <a:schemeClr val="bg1"/>
                          </a:solidFill>
                          <a:latin typeface="Times New Roman" panose="02020603050405020304" pitchFamily="18" charset="0"/>
                          <a:ea typeface="Calibri" pitchFamily="34" charset="-122"/>
                          <a:cs typeface="Times New Roman" panose="02020603050405020304" pitchFamily="18" charset="0"/>
                        </a:rPr>
                        <a:t>Float</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0A1522"/>
                    </a:solidFill>
                  </a:tcPr>
                </a:tc>
                <a:tc>
                  <a:txBody>
                    <a:bodyPr/>
                    <a:lstStyle/>
                    <a:p>
                      <a:pPr marL="0" lvl="0" indent="0" algn="l">
                        <a:lnSpc>
                          <a:spcPct val="100000"/>
                        </a:lnSpc>
                        <a:buFont typeface="+mj-lt"/>
                        <a:buNone/>
                      </a:pPr>
                      <a:r>
                        <a:rPr lang="en-US" dirty="0">
                          <a:solidFill>
                            <a:schemeClr val="bg1"/>
                          </a:solidFill>
                          <a:latin typeface="Times New Roman" panose="02020603050405020304" pitchFamily="18" charset="0"/>
                          <a:cs typeface="Times New Roman" panose="02020603050405020304" pitchFamily="18" charset="0"/>
                        </a:rPr>
                        <a:t>Estimated annual salary offered for the role (LPA)</a:t>
                      </a:r>
                      <a:endParaRPr lang="en-US" sz="1800" dirty="0">
                        <a:solidFill>
                          <a:schemeClr val="bg1"/>
                        </a:solidFill>
                        <a:latin typeface="Times New Roman" panose="02020603050405020304" pitchFamily="18" charset="0"/>
                        <a:ea typeface="Calibri" charset="0"/>
                        <a:cs typeface="Times New Roman" panose="02020603050405020304" pitchFamily="18" charset="0"/>
                      </a:endParaRPr>
                    </a:p>
                  </a:txBody>
                  <a:tcPr>
                    <a:lnL w="6350" cap="flat" cmpd="sng" algn="ctr">
                      <a:solidFill>
                        <a:srgbClr val="1E3A55"/>
                      </a:solidFill>
                      <a:prstDash val="solid"/>
                      <a:round/>
                      <a:headEnd type="none" w="med" len="med"/>
                      <a:tailEnd type="none" w="med" len="med"/>
                    </a:lnL>
                    <a:lnR w="6350" cap="flat" cmpd="sng" algn="ctr">
                      <a:solidFill>
                        <a:srgbClr val="1E3A55"/>
                      </a:solidFill>
                      <a:prstDash val="solid"/>
                      <a:round/>
                      <a:headEnd type="none" w="med" len="med"/>
                      <a:tailEnd type="none" w="med" len="med"/>
                    </a:lnR>
                    <a:lnT w="6350" cap="flat" cmpd="sng" algn="ctr">
                      <a:solidFill>
                        <a:srgbClr val="1E3A55"/>
                      </a:solidFill>
                      <a:prstDash val="solid"/>
                      <a:round/>
                      <a:headEnd type="none" w="med" len="med"/>
                      <a:tailEnd type="none" w="med" len="med"/>
                    </a:lnT>
                    <a:lnB w="6350" cap="flat" cmpd="sng" algn="ctr">
                      <a:solidFill>
                        <a:srgbClr val="1E3A55"/>
                      </a:solidFill>
                      <a:prstDash val="solid"/>
                      <a:round/>
                      <a:headEnd type="none" w="med" len="med"/>
                      <a:tailEnd type="none" w="med" len="med"/>
                    </a:lnB>
                    <a:solidFill>
                      <a:srgbClr val="0A1522"/>
                    </a:solidFill>
                  </a:tcPr>
                </a:tc>
                <a:extLst>
                  <a:ext uri="{0D108BD9-81ED-4DB2-BD59-A6C34878D82A}">
                    <a16:rowId xmlns:a16="http://schemas.microsoft.com/office/drawing/2014/main" val="10010"/>
                  </a:ext>
                </a:extLst>
              </a:tr>
            </a:tbl>
          </a:graphicData>
        </a:graphic>
      </p:graphicFrame>
      <p:pic>
        <p:nvPicPr>
          <p:cNvPr id="2" name="Picture 1">
            <a:extLst>
              <a:ext uri="{FF2B5EF4-FFF2-40B4-BE49-F238E27FC236}">
                <a16:creationId xmlns:a16="http://schemas.microsoft.com/office/drawing/2014/main" id="{2154EECD-B075-67F9-5560-ABC8E21FDEE9}"/>
              </a:ext>
            </a:extLst>
          </p:cNvPr>
          <p:cNvPicPr>
            <a:picLocks noChangeAspect="1"/>
          </p:cNvPicPr>
          <p:nvPr/>
        </p:nvPicPr>
        <p:blipFill>
          <a:blip r:embed="rId3"/>
          <a:stretch>
            <a:fillRect/>
          </a:stretch>
        </p:blipFill>
        <p:spPr>
          <a:xfrm>
            <a:off x="8852630" y="6017058"/>
            <a:ext cx="3338185" cy="7231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09">
          <a:extLst>
            <a:ext uri="{FF2B5EF4-FFF2-40B4-BE49-F238E27FC236}">
              <a16:creationId xmlns:a16="http://schemas.microsoft.com/office/drawing/2014/main" id="{A97628FC-3AEF-5B9A-BDD1-1CCF98A322E4}"/>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23BE6C19-EE2A-DD5A-A8DC-59AD46C8048F}"/>
              </a:ext>
            </a:extLst>
          </p:cNvPr>
          <p:cNvSpPr txBox="1">
            <a:spLocks noGrp="1"/>
          </p:cNvSpPr>
          <p:nvPr>
            <p:ph idx="1"/>
          </p:nvPr>
        </p:nvSpPr>
        <p:spPr>
          <a:xfrm>
            <a:off x="0" y="0"/>
            <a:ext cx="12192000" cy="6857999"/>
          </a:xfrm>
          <a:prstGeom prst="rect">
            <a:avLst/>
          </a:prstGeom>
          <a:solidFill>
            <a:schemeClr val="tx1"/>
          </a:solidFill>
          <a:ln>
            <a:noFill/>
          </a:ln>
        </p:spPr>
        <p:txBody>
          <a:bodyPr spcFirstLastPara="1" wrap="square" lIns="91425" tIns="45700" rIns="91425" bIns="45700" anchor="t" anchorCtr="0">
            <a:normAutofit/>
          </a:bodyPr>
          <a:lstStyle/>
          <a:p>
            <a:r>
              <a:rPr lang="en-US" dirty="0"/>
              <a:t>Observation: Density Plot of Doctor Experience</a:t>
            </a:r>
          </a:p>
          <a:p>
            <a:r>
              <a:rPr lang="en-US" dirty="0"/>
              <a:t>The distribution of </a:t>
            </a:r>
            <a:r>
              <a:rPr lang="en-US" b="1" dirty="0"/>
              <a:t>doctor experience</a:t>
            </a:r>
            <a:r>
              <a:rPr lang="en-US" dirty="0"/>
              <a:t> appears </a:t>
            </a:r>
            <a:r>
              <a:rPr lang="en-US" b="1" dirty="0"/>
              <a:t>right-skewed (positively skewed)</a:t>
            </a:r>
            <a:r>
              <a:rPr lang="en-US" dirty="0"/>
              <a:t>.</a:t>
            </a:r>
          </a:p>
        </p:txBody>
      </p:sp>
      <p:sp>
        <p:nvSpPr>
          <p:cNvPr id="4" name="TextBox 3">
            <a:extLst>
              <a:ext uri="{FF2B5EF4-FFF2-40B4-BE49-F238E27FC236}">
                <a16:creationId xmlns:a16="http://schemas.microsoft.com/office/drawing/2014/main" id="{5623C159-08C4-D901-659B-E785752E22F1}"/>
              </a:ext>
            </a:extLst>
          </p:cNvPr>
          <p:cNvSpPr txBox="1"/>
          <p:nvPr/>
        </p:nvSpPr>
        <p:spPr>
          <a:xfrm>
            <a:off x="557751" y="153893"/>
            <a:ext cx="11076495" cy="1200329"/>
          </a:xfrm>
          <a:prstGeom prst="rect">
            <a:avLst/>
          </a:prstGeom>
          <a:noFill/>
        </p:spPr>
        <p:txBody>
          <a:bodyPr wrap="square" rtlCol="0">
            <a:spAutoFit/>
          </a:bodyPr>
          <a:lstStyle/>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1FC029D-1F1B-F755-B073-02312FED06DE}"/>
              </a:ext>
            </a:extLst>
          </p:cNvPr>
          <p:cNvSpPr txBox="1"/>
          <p:nvPr/>
        </p:nvSpPr>
        <p:spPr>
          <a:xfrm>
            <a:off x="810704" y="163320"/>
            <a:ext cx="10558021" cy="461665"/>
          </a:xfrm>
          <a:prstGeom prst="rect">
            <a:avLst/>
          </a:prstGeom>
          <a:noFill/>
        </p:spPr>
        <p:txBody>
          <a:bodyPr wrap="square">
            <a:spAutoFit/>
          </a:bodyPr>
          <a:lstStyle/>
          <a:p>
            <a:pPr algn="ctr"/>
            <a:r>
              <a:rPr lang="en-US" sz="2400" b="1" dirty="0">
                <a:solidFill>
                  <a:srgbClr val="00B050"/>
                </a:solidFill>
                <a:latin typeface="Times New Roman" panose="02020603050405020304" pitchFamily="18" charset="0"/>
                <a:ea typeface="Calibri" pitchFamily="34" charset="-122"/>
                <a:cs typeface="Times New Roman" panose="02020603050405020304" pitchFamily="18" charset="0"/>
              </a:rPr>
              <a:t>Univariate Analysis</a:t>
            </a:r>
          </a:p>
        </p:txBody>
      </p:sp>
      <p:sp>
        <p:nvSpPr>
          <p:cNvPr id="9" name="TextBox 8">
            <a:extLst>
              <a:ext uri="{FF2B5EF4-FFF2-40B4-BE49-F238E27FC236}">
                <a16:creationId xmlns:a16="http://schemas.microsoft.com/office/drawing/2014/main" id="{3F8B159F-FF2E-8D67-7C42-5D01A370FFEB}"/>
              </a:ext>
            </a:extLst>
          </p:cNvPr>
          <p:cNvSpPr txBox="1"/>
          <p:nvPr/>
        </p:nvSpPr>
        <p:spPr>
          <a:xfrm>
            <a:off x="443059" y="769451"/>
            <a:ext cx="6382201" cy="4924425"/>
          </a:xfrm>
          <a:prstGeom prst="rect">
            <a:avLst/>
          </a:prstGeom>
          <a:noFill/>
        </p:spPr>
        <p:txBody>
          <a:bodyPr wrap="square" rtlCol="0">
            <a:spAutoFit/>
          </a:bodyPr>
          <a:lstStyle/>
          <a:p>
            <a:pPr algn="just"/>
            <a:r>
              <a:rPr lang="en-US" sz="2000" dirty="0">
                <a:solidFill>
                  <a:srgbClr val="FFFF00"/>
                </a:solidFill>
                <a:latin typeface="Times New Roman" panose="02020603050405020304" pitchFamily="18" charset="0"/>
                <a:cs typeface="Times New Roman" panose="02020603050405020304" pitchFamily="18" charset="0"/>
              </a:rPr>
              <a:t>Role Distribution</a:t>
            </a:r>
          </a:p>
          <a:p>
            <a:pPr algn="just"/>
            <a:endParaRPr lang="en-US" sz="2000" dirty="0">
              <a:solidFill>
                <a:srgbClr val="FFFF00"/>
              </a:solidFill>
              <a:latin typeface="Times New Roman" panose="02020603050405020304" pitchFamily="18" charset="0"/>
              <a:cs typeface="Times New Roman" panose="02020603050405020304" pitchFamily="18" charset="0"/>
            </a:endParaRPr>
          </a:p>
          <a:p>
            <a:pPr algn="just"/>
            <a:r>
              <a:rPr lang="en-US" sz="2000" dirty="0">
                <a:solidFill>
                  <a:srgbClr val="FFFF00"/>
                </a:solidFill>
                <a:latin typeface="Times New Roman" panose="02020603050405020304" pitchFamily="18" charset="0"/>
                <a:cs typeface="Times New Roman" panose="02020603050405020304" pitchFamily="18" charset="0"/>
              </a:rPr>
              <a:t>Observation and Insights</a:t>
            </a:r>
          </a:p>
          <a:p>
            <a:pPr algn="just"/>
            <a:endParaRPr lang="en-US" sz="2000" dirty="0">
              <a:solidFill>
                <a:srgbClr val="FFFF00"/>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Most jobs in the dataset are Custom Software Engineer roles.</a:t>
            </a:r>
          </a:p>
          <a:p>
            <a:pPr marL="342900" indent="-342900" algn="just">
              <a:buFont typeface="Wingdings" panose="05000000000000000000" pitchFamily="2" charset="2"/>
              <a:buChar char="ü"/>
            </a:pPr>
            <a:endParaRPr lang="en-US" dirty="0">
              <a:solidFill>
                <a:schemeClr val="bg1"/>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The next common roles are Java Full Stack Developer and Java Developer.</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 Other roles like Cloud Full Stack, Application Developer, Data Scientist, and Data Analyst appear frequently</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Senior Software Engineer and Business Analyst roles are fewer compared to other roles.</a:t>
            </a:r>
          </a:p>
          <a:p>
            <a:pPr marL="342900" indent="-342900">
              <a:buFont typeface="Wingdings" panose="05000000000000000000" pitchFamily="2" charset="2"/>
              <a:buChar char="ü"/>
            </a:pPr>
            <a:endParaRPr lang="en-US" dirty="0">
              <a:solidFill>
                <a:schemeClr val="bg1"/>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This shows that software development roles are the most common in the IT job market</a:t>
            </a:r>
            <a:r>
              <a:rPr lang="en-US" dirty="0">
                <a:latin typeface="Times New Roman" panose="02020603050405020304" pitchFamily="18" charset="0"/>
                <a:cs typeface="Times New Roman" panose="02020603050405020304" pitchFamily="18" charset="0"/>
              </a:rPr>
              <a:t>. </a:t>
            </a:r>
            <a:endParaRPr lang="en-US" sz="2000" dirty="0">
              <a:solidFill>
                <a:schemeClr val="bg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38D771B-E654-9600-22FD-4633BB1E983B}"/>
              </a:ext>
            </a:extLst>
          </p:cNvPr>
          <p:cNvPicPr>
            <a:picLocks noChangeAspect="1"/>
          </p:cNvPicPr>
          <p:nvPr/>
        </p:nvPicPr>
        <p:blipFill>
          <a:blip r:embed="rId3"/>
          <a:stretch>
            <a:fillRect/>
          </a:stretch>
        </p:blipFill>
        <p:spPr>
          <a:xfrm>
            <a:off x="8853815" y="6111588"/>
            <a:ext cx="3338185" cy="723108"/>
          </a:xfrm>
          <a:prstGeom prst="rect">
            <a:avLst/>
          </a:prstGeom>
        </p:spPr>
      </p:pic>
      <p:pic>
        <p:nvPicPr>
          <p:cNvPr id="10" name="Picture 9">
            <a:extLst>
              <a:ext uri="{FF2B5EF4-FFF2-40B4-BE49-F238E27FC236}">
                <a16:creationId xmlns:a16="http://schemas.microsoft.com/office/drawing/2014/main" id="{AC0C2366-F0AE-BDD0-F3EB-4EFA3798EBEA}"/>
              </a:ext>
            </a:extLst>
          </p:cNvPr>
          <p:cNvPicPr>
            <a:picLocks noChangeAspect="1"/>
          </p:cNvPicPr>
          <p:nvPr/>
        </p:nvPicPr>
        <p:blipFill>
          <a:blip r:embed="rId4"/>
          <a:stretch>
            <a:fillRect/>
          </a:stretch>
        </p:blipFill>
        <p:spPr>
          <a:xfrm>
            <a:off x="7168709" y="899588"/>
            <a:ext cx="4744414" cy="4850033"/>
          </a:xfrm>
          <a:prstGeom prst="rect">
            <a:avLst/>
          </a:prstGeom>
        </p:spPr>
      </p:pic>
    </p:spTree>
    <p:extLst>
      <p:ext uri="{BB962C8B-B14F-4D97-AF65-F5344CB8AC3E}">
        <p14:creationId xmlns:p14="http://schemas.microsoft.com/office/powerpoint/2010/main" val="2896771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09">
          <a:extLst>
            <a:ext uri="{FF2B5EF4-FFF2-40B4-BE49-F238E27FC236}">
              <a16:creationId xmlns:a16="http://schemas.microsoft.com/office/drawing/2014/main" id="{E55CBFEF-00DD-A891-1292-58EFFA9481FF}"/>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794B0F01-D7AC-3030-CD38-848F842B2493}"/>
              </a:ext>
            </a:extLst>
          </p:cNvPr>
          <p:cNvSpPr txBox="1">
            <a:spLocks noGrp="1"/>
          </p:cNvSpPr>
          <p:nvPr>
            <p:ph idx="1"/>
          </p:nvPr>
        </p:nvSpPr>
        <p:spPr>
          <a:xfrm>
            <a:off x="0" y="0"/>
            <a:ext cx="12192000" cy="6857999"/>
          </a:xfrm>
          <a:prstGeom prst="rect">
            <a:avLst/>
          </a:prstGeom>
          <a:solidFill>
            <a:schemeClr val="tx1"/>
          </a:solidFill>
          <a:ln>
            <a:noFill/>
          </a:ln>
        </p:spPr>
        <p:txBody>
          <a:bodyPr spcFirstLastPara="1" wrap="square" lIns="91425" tIns="45700" rIns="91425" bIns="45700" anchor="t" anchorCtr="0">
            <a:normAutofit/>
          </a:bodyPr>
          <a:lstStyle/>
          <a:p>
            <a:r>
              <a:rPr lang="en-US" dirty="0"/>
              <a:t>Observation: Density Plot of Doctor Experience</a:t>
            </a:r>
          </a:p>
          <a:p>
            <a:r>
              <a:rPr lang="en-US" dirty="0"/>
              <a:t>The distribution of </a:t>
            </a:r>
            <a:r>
              <a:rPr lang="en-US" b="1" dirty="0"/>
              <a:t>doctor experience</a:t>
            </a:r>
            <a:r>
              <a:rPr lang="en-US" dirty="0"/>
              <a:t> appears </a:t>
            </a:r>
            <a:r>
              <a:rPr lang="en-US" b="1" dirty="0"/>
              <a:t>right-skewed (positively skewed)</a:t>
            </a:r>
            <a:r>
              <a:rPr lang="en-US" dirty="0"/>
              <a:t>.</a:t>
            </a:r>
          </a:p>
        </p:txBody>
      </p:sp>
      <p:sp>
        <p:nvSpPr>
          <p:cNvPr id="4" name="TextBox 3">
            <a:extLst>
              <a:ext uri="{FF2B5EF4-FFF2-40B4-BE49-F238E27FC236}">
                <a16:creationId xmlns:a16="http://schemas.microsoft.com/office/drawing/2014/main" id="{3C48AC80-BA12-9213-7A40-A7B8F77C9A02}"/>
              </a:ext>
            </a:extLst>
          </p:cNvPr>
          <p:cNvSpPr txBox="1"/>
          <p:nvPr/>
        </p:nvSpPr>
        <p:spPr>
          <a:xfrm>
            <a:off x="557751" y="153893"/>
            <a:ext cx="11076495" cy="1200329"/>
          </a:xfrm>
          <a:prstGeom prst="rect">
            <a:avLst/>
          </a:prstGeom>
          <a:noFill/>
        </p:spPr>
        <p:txBody>
          <a:bodyPr wrap="square" rtlCol="0">
            <a:spAutoFit/>
          </a:bodyPr>
          <a:lstStyle/>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7DDCEAF-DF0E-86DC-3975-184DF8AD7948}"/>
              </a:ext>
            </a:extLst>
          </p:cNvPr>
          <p:cNvSpPr txBox="1"/>
          <p:nvPr/>
        </p:nvSpPr>
        <p:spPr>
          <a:xfrm>
            <a:off x="810704" y="153893"/>
            <a:ext cx="10558021" cy="461665"/>
          </a:xfrm>
          <a:prstGeom prst="rect">
            <a:avLst/>
          </a:prstGeom>
          <a:noFill/>
        </p:spPr>
        <p:txBody>
          <a:bodyPr wrap="square">
            <a:spAutoFit/>
          </a:bodyPr>
          <a:lstStyle/>
          <a:p>
            <a:pPr algn="ctr"/>
            <a:r>
              <a:rPr lang="en-US" sz="2400" b="1" dirty="0">
                <a:solidFill>
                  <a:srgbClr val="FFFF00"/>
                </a:solidFill>
                <a:latin typeface="Times New Roman" panose="02020603050405020304" pitchFamily="18" charset="0"/>
                <a:cs typeface="Times New Roman" panose="02020603050405020304" pitchFamily="18" charset="0"/>
              </a:rPr>
              <a:t>Top Hiring Companies</a:t>
            </a:r>
          </a:p>
        </p:txBody>
      </p:sp>
      <p:sp>
        <p:nvSpPr>
          <p:cNvPr id="9" name="TextBox 8">
            <a:extLst>
              <a:ext uri="{FF2B5EF4-FFF2-40B4-BE49-F238E27FC236}">
                <a16:creationId xmlns:a16="http://schemas.microsoft.com/office/drawing/2014/main" id="{D682AF87-D54D-04FF-AE62-2C7D6EF10F9B}"/>
              </a:ext>
            </a:extLst>
          </p:cNvPr>
          <p:cNvSpPr txBox="1"/>
          <p:nvPr/>
        </p:nvSpPr>
        <p:spPr>
          <a:xfrm>
            <a:off x="443059" y="769451"/>
            <a:ext cx="6382201" cy="5170646"/>
          </a:xfrm>
          <a:prstGeom prst="rect">
            <a:avLst/>
          </a:prstGeom>
          <a:noFill/>
        </p:spPr>
        <p:txBody>
          <a:bodyPr wrap="square" rtlCol="0">
            <a:spAutoFit/>
          </a:bodyPr>
          <a:lstStyle/>
          <a:p>
            <a:endParaRPr lang="en-US" sz="2000" b="1" dirty="0">
              <a:solidFill>
                <a:srgbClr val="FFFF00"/>
              </a:solidFill>
              <a:latin typeface="Times New Roman" panose="02020603050405020304" pitchFamily="18" charset="0"/>
              <a:cs typeface="Times New Roman" panose="02020603050405020304" pitchFamily="18" charset="0"/>
            </a:endParaRPr>
          </a:p>
          <a:p>
            <a:r>
              <a:rPr lang="en-US" sz="2000" b="1" dirty="0">
                <a:solidFill>
                  <a:srgbClr val="FFFF00"/>
                </a:solidFill>
                <a:latin typeface="Times New Roman" panose="02020603050405020304" pitchFamily="18" charset="0"/>
                <a:cs typeface="Times New Roman" panose="02020603050405020304" pitchFamily="18" charset="0"/>
              </a:rPr>
              <a:t>Observation and Insights</a:t>
            </a:r>
          </a:p>
          <a:p>
            <a:endParaRPr lang="en-US" sz="2000" b="1" dirty="0">
              <a:solidFill>
                <a:srgbClr val="FFFF0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Capgemini Technology Services India Ltd has the highest number of job openings.</a:t>
            </a:r>
          </a:p>
          <a:p>
            <a:endParaRPr lang="en-US"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IBM India Ltd and Tata Consultancy Services (TCS) also hire many employees.</a:t>
            </a:r>
          </a:p>
          <a:p>
            <a:endParaRPr lang="en-US"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Companies like Accenture Solutions Pvt Ltd and Infosys have a moderate number of jobs.</a:t>
            </a:r>
          </a:p>
          <a:p>
            <a:endParaRPr lang="en-US"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A few companies such as Cognizant, Amazon Development Center, Publicis Sapient, and HCL Tech have fewer job postings.</a:t>
            </a:r>
          </a:p>
          <a:p>
            <a:endParaRPr lang="en-US"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This shows that large IT companies provide most of the job opportunities.</a:t>
            </a:r>
            <a:endParaRPr lang="en-US" sz="2000" dirty="0">
              <a:solidFill>
                <a:schemeClr val="bg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5579933A-B364-82DF-32BD-7E30B848FA7C}"/>
              </a:ext>
            </a:extLst>
          </p:cNvPr>
          <p:cNvPicPr>
            <a:picLocks noChangeAspect="1"/>
          </p:cNvPicPr>
          <p:nvPr/>
        </p:nvPicPr>
        <p:blipFill>
          <a:blip r:embed="rId3"/>
          <a:stretch>
            <a:fillRect/>
          </a:stretch>
        </p:blipFill>
        <p:spPr>
          <a:xfrm>
            <a:off x="8853815" y="6111588"/>
            <a:ext cx="3338185" cy="723108"/>
          </a:xfrm>
          <a:prstGeom prst="rect">
            <a:avLst/>
          </a:prstGeom>
        </p:spPr>
      </p:pic>
      <p:pic>
        <p:nvPicPr>
          <p:cNvPr id="7" name="Picture 6">
            <a:extLst>
              <a:ext uri="{FF2B5EF4-FFF2-40B4-BE49-F238E27FC236}">
                <a16:creationId xmlns:a16="http://schemas.microsoft.com/office/drawing/2014/main" id="{CB76A011-1DAA-7BB6-86A6-057A8D02EB32}"/>
              </a:ext>
            </a:extLst>
          </p:cNvPr>
          <p:cNvPicPr>
            <a:picLocks noChangeAspect="1"/>
          </p:cNvPicPr>
          <p:nvPr/>
        </p:nvPicPr>
        <p:blipFill>
          <a:blip r:embed="rId4"/>
          <a:stretch>
            <a:fillRect/>
          </a:stretch>
        </p:blipFill>
        <p:spPr>
          <a:xfrm>
            <a:off x="7137839" y="960120"/>
            <a:ext cx="4775284" cy="4773168"/>
          </a:xfrm>
          <a:prstGeom prst="rect">
            <a:avLst/>
          </a:prstGeom>
        </p:spPr>
      </p:pic>
    </p:spTree>
    <p:extLst>
      <p:ext uri="{BB962C8B-B14F-4D97-AF65-F5344CB8AC3E}">
        <p14:creationId xmlns:p14="http://schemas.microsoft.com/office/powerpoint/2010/main" val="1397595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09">
          <a:extLst>
            <a:ext uri="{FF2B5EF4-FFF2-40B4-BE49-F238E27FC236}">
              <a16:creationId xmlns:a16="http://schemas.microsoft.com/office/drawing/2014/main" id="{759AF9F8-2361-CD6A-F10E-4A3096E5445E}"/>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C3059CE4-75A8-C28B-D9B6-A7460D01C505}"/>
              </a:ext>
            </a:extLst>
          </p:cNvPr>
          <p:cNvSpPr txBox="1">
            <a:spLocks noGrp="1"/>
          </p:cNvSpPr>
          <p:nvPr>
            <p:ph idx="1"/>
          </p:nvPr>
        </p:nvSpPr>
        <p:spPr>
          <a:xfrm>
            <a:off x="0" y="0"/>
            <a:ext cx="12192000" cy="6857999"/>
          </a:xfrm>
          <a:prstGeom prst="rect">
            <a:avLst/>
          </a:prstGeom>
          <a:solidFill>
            <a:schemeClr val="tx1"/>
          </a:solidFill>
          <a:ln>
            <a:noFill/>
          </a:ln>
        </p:spPr>
        <p:txBody>
          <a:bodyPr spcFirstLastPara="1" wrap="square" lIns="91425" tIns="45700" rIns="91425" bIns="45700" anchor="t" anchorCtr="0">
            <a:normAutofit/>
          </a:bodyPr>
          <a:lstStyle/>
          <a:p>
            <a:r>
              <a:rPr lang="en-US" dirty="0"/>
              <a:t>Observation: Density Plot of Doctor Experience</a:t>
            </a:r>
          </a:p>
          <a:p>
            <a:r>
              <a:rPr lang="en-US" dirty="0"/>
              <a:t>The distribution of </a:t>
            </a:r>
            <a:r>
              <a:rPr lang="en-US" b="1" dirty="0"/>
              <a:t>doctor experience</a:t>
            </a:r>
            <a:r>
              <a:rPr lang="en-US" dirty="0"/>
              <a:t> appears </a:t>
            </a:r>
            <a:r>
              <a:rPr lang="en-US" b="1" dirty="0"/>
              <a:t>right-skewed (positively skewed)</a:t>
            </a:r>
            <a:r>
              <a:rPr lang="en-US" dirty="0"/>
              <a:t>.</a:t>
            </a:r>
          </a:p>
        </p:txBody>
      </p:sp>
      <p:sp>
        <p:nvSpPr>
          <p:cNvPr id="4" name="TextBox 3">
            <a:extLst>
              <a:ext uri="{FF2B5EF4-FFF2-40B4-BE49-F238E27FC236}">
                <a16:creationId xmlns:a16="http://schemas.microsoft.com/office/drawing/2014/main" id="{E29895FB-2D7C-29EA-1911-2F1D6625CE38}"/>
              </a:ext>
            </a:extLst>
          </p:cNvPr>
          <p:cNvSpPr txBox="1"/>
          <p:nvPr/>
        </p:nvSpPr>
        <p:spPr>
          <a:xfrm>
            <a:off x="557751" y="153893"/>
            <a:ext cx="11076495" cy="1200329"/>
          </a:xfrm>
          <a:prstGeom prst="rect">
            <a:avLst/>
          </a:prstGeom>
          <a:noFill/>
        </p:spPr>
        <p:txBody>
          <a:bodyPr wrap="square" rtlCol="0">
            <a:spAutoFit/>
          </a:bodyPr>
          <a:lstStyle/>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D7A1C6D-2124-27DF-5341-6829A75C6F59}"/>
              </a:ext>
            </a:extLst>
          </p:cNvPr>
          <p:cNvSpPr txBox="1"/>
          <p:nvPr/>
        </p:nvSpPr>
        <p:spPr>
          <a:xfrm>
            <a:off x="810704" y="153893"/>
            <a:ext cx="10558021" cy="461665"/>
          </a:xfrm>
          <a:prstGeom prst="rect">
            <a:avLst/>
          </a:prstGeom>
          <a:noFill/>
        </p:spPr>
        <p:txBody>
          <a:bodyPr wrap="square">
            <a:spAutoFit/>
          </a:bodyPr>
          <a:lstStyle/>
          <a:p>
            <a:pPr algn="ctr"/>
            <a:r>
              <a:rPr lang="en-US" sz="2400" b="1" dirty="0">
                <a:solidFill>
                  <a:srgbClr val="FFFF00"/>
                </a:solidFill>
                <a:latin typeface="Times New Roman" panose="02020603050405020304" pitchFamily="18" charset="0"/>
                <a:cs typeface="Times New Roman" panose="02020603050405020304" pitchFamily="18" charset="0"/>
              </a:rPr>
              <a:t>Top Job Locations</a:t>
            </a:r>
          </a:p>
        </p:txBody>
      </p:sp>
      <p:sp>
        <p:nvSpPr>
          <p:cNvPr id="9" name="TextBox 8">
            <a:extLst>
              <a:ext uri="{FF2B5EF4-FFF2-40B4-BE49-F238E27FC236}">
                <a16:creationId xmlns:a16="http://schemas.microsoft.com/office/drawing/2014/main" id="{3C50F875-B76C-06A2-8825-3F0A637F91D0}"/>
              </a:ext>
            </a:extLst>
          </p:cNvPr>
          <p:cNvSpPr txBox="1"/>
          <p:nvPr/>
        </p:nvSpPr>
        <p:spPr>
          <a:xfrm>
            <a:off x="443061" y="769451"/>
            <a:ext cx="5130124" cy="4893647"/>
          </a:xfrm>
          <a:prstGeom prst="rect">
            <a:avLst/>
          </a:prstGeom>
          <a:noFill/>
        </p:spPr>
        <p:txBody>
          <a:bodyPr wrap="square" rtlCol="0">
            <a:spAutoFit/>
          </a:bodyPr>
          <a:lstStyle/>
          <a:p>
            <a:pPr algn="just"/>
            <a:endParaRPr lang="en-US" sz="2000" b="1" dirty="0">
              <a:solidFill>
                <a:srgbClr val="FFFF00"/>
              </a:solidFill>
              <a:latin typeface="Times New Roman" panose="02020603050405020304" pitchFamily="18" charset="0"/>
              <a:cs typeface="Times New Roman" panose="02020603050405020304" pitchFamily="18" charset="0"/>
            </a:endParaRPr>
          </a:p>
          <a:p>
            <a:pPr algn="just"/>
            <a:r>
              <a:rPr lang="en-US" sz="2000" b="1" dirty="0">
                <a:solidFill>
                  <a:srgbClr val="FFFF00"/>
                </a:solidFill>
                <a:latin typeface="Times New Roman" panose="02020603050405020304" pitchFamily="18" charset="0"/>
                <a:cs typeface="Times New Roman" panose="02020603050405020304" pitchFamily="18" charset="0"/>
              </a:rPr>
              <a:t>Observation and Insights</a:t>
            </a:r>
          </a:p>
          <a:p>
            <a:pPr algn="just"/>
            <a:endParaRPr lang="en-US" sz="2000" b="1" dirty="0">
              <a:solidFill>
                <a:srgbClr val="FFFF0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Bengaluru has the highest number of IT job opportunities.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Hyderabad is the second city with many job openings.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Cities like Pune, Chennai, and Mumbai also have a good number of IT jobs.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Gurugram, Noida, and Kolkata have a moderate number of job postings.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Navi Mumbai and Kochi have fewer job opportunities compared to other cities.</a:t>
            </a:r>
          </a:p>
        </p:txBody>
      </p:sp>
      <p:pic>
        <p:nvPicPr>
          <p:cNvPr id="2" name="Picture 1">
            <a:extLst>
              <a:ext uri="{FF2B5EF4-FFF2-40B4-BE49-F238E27FC236}">
                <a16:creationId xmlns:a16="http://schemas.microsoft.com/office/drawing/2014/main" id="{C85F6A7A-0B86-ED7B-110B-8472553BC872}"/>
              </a:ext>
            </a:extLst>
          </p:cNvPr>
          <p:cNvPicPr>
            <a:picLocks noChangeAspect="1"/>
          </p:cNvPicPr>
          <p:nvPr/>
        </p:nvPicPr>
        <p:blipFill>
          <a:blip r:embed="rId3"/>
          <a:stretch>
            <a:fillRect/>
          </a:stretch>
        </p:blipFill>
        <p:spPr>
          <a:xfrm>
            <a:off x="8853815" y="6111588"/>
            <a:ext cx="3338185" cy="723108"/>
          </a:xfrm>
          <a:prstGeom prst="rect">
            <a:avLst/>
          </a:prstGeom>
        </p:spPr>
      </p:pic>
      <p:pic>
        <p:nvPicPr>
          <p:cNvPr id="7" name="Picture 6">
            <a:extLst>
              <a:ext uri="{FF2B5EF4-FFF2-40B4-BE49-F238E27FC236}">
                <a16:creationId xmlns:a16="http://schemas.microsoft.com/office/drawing/2014/main" id="{102EE63A-65A2-8346-7E90-81AD123EEEEB}"/>
              </a:ext>
            </a:extLst>
          </p:cNvPr>
          <p:cNvPicPr>
            <a:picLocks noChangeAspect="1"/>
          </p:cNvPicPr>
          <p:nvPr/>
        </p:nvPicPr>
        <p:blipFill>
          <a:blip r:embed="rId4"/>
          <a:stretch>
            <a:fillRect/>
          </a:stretch>
        </p:blipFill>
        <p:spPr>
          <a:xfrm>
            <a:off x="6216378" y="754057"/>
            <a:ext cx="5696745" cy="5172797"/>
          </a:xfrm>
          <a:prstGeom prst="rect">
            <a:avLst/>
          </a:prstGeom>
        </p:spPr>
      </p:pic>
    </p:spTree>
    <p:extLst>
      <p:ext uri="{BB962C8B-B14F-4D97-AF65-F5344CB8AC3E}">
        <p14:creationId xmlns:p14="http://schemas.microsoft.com/office/powerpoint/2010/main" val="635484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09">
          <a:extLst>
            <a:ext uri="{FF2B5EF4-FFF2-40B4-BE49-F238E27FC236}">
              <a16:creationId xmlns:a16="http://schemas.microsoft.com/office/drawing/2014/main" id="{8E03822A-82E2-219E-D0F3-DCE5A3DA9CDE}"/>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9DC08031-0B5B-06EF-C8F1-88C79D1D2F0D}"/>
              </a:ext>
            </a:extLst>
          </p:cNvPr>
          <p:cNvSpPr txBox="1">
            <a:spLocks noGrp="1"/>
          </p:cNvSpPr>
          <p:nvPr>
            <p:ph idx="1"/>
          </p:nvPr>
        </p:nvSpPr>
        <p:spPr>
          <a:xfrm>
            <a:off x="0" y="0"/>
            <a:ext cx="12192000" cy="6857999"/>
          </a:xfrm>
          <a:prstGeom prst="rect">
            <a:avLst/>
          </a:prstGeom>
          <a:solidFill>
            <a:schemeClr val="tx1"/>
          </a:solidFill>
          <a:ln>
            <a:noFill/>
          </a:ln>
        </p:spPr>
        <p:txBody>
          <a:bodyPr spcFirstLastPara="1" wrap="square" lIns="91425" tIns="45700" rIns="91425" bIns="45700" anchor="t" anchorCtr="0">
            <a:normAutofit/>
          </a:bodyPr>
          <a:lstStyle/>
          <a:p>
            <a:r>
              <a:rPr lang="en-US" dirty="0"/>
              <a:t>Observation: Density Plot of Doctor Experience</a:t>
            </a:r>
          </a:p>
          <a:p>
            <a:r>
              <a:rPr lang="en-US" dirty="0"/>
              <a:t>The distribution of </a:t>
            </a:r>
            <a:r>
              <a:rPr lang="en-US" b="1" dirty="0"/>
              <a:t>doctor experience</a:t>
            </a:r>
            <a:r>
              <a:rPr lang="en-US" dirty="0"/>
              <a:t> appears </a:t>
            </a:r>
            <a:r>
              <a:rPr lang="en-US" b="1" dirty="0"/>
              <a:t>right-skewed (positively skewed)</a:t>
            </a:r>
            <a:r>
              <a:rPr lang="en-US" dirty="0"/>
              <a:t>.</a:t>
            </a:r>
          </a:p>
        </p:txBody>
      </p:sp>
      <p:sp>
        <p:nvSpPr>
          <p:cNvPr id="4" name="TextBox 3">
            <a:extLst>
              <a:ext uri="{FF2B5EF4-FFF2-40B4-BE49-F238E27FC236}">
                <a16:creationId xmlns:a16="http://schemas.microsoft.com/office/drawing/2014/main" id="{A6EB8E4B-07AD-0B89-E25E-E7BACE80B2E1}"/>
              </a:ext>
            </a:extLst>
          </p:cNvPr>
          <p:cNvSpPr txBox="1"/>
          <p:nvPr/>
        </p:nvSpPr>
        <p:spPr>
          <a:xfrm>
            <a:off x="557751" y="153893"/>
            <a:ext cx="11076495" cy="1200329"/>
          </a:xfrm>
          <a:prstGeom prst="rect">
            <a:avLst/>
          </a:prstGeom>
          <a:noFill/>
        </p:spPr>
        <p:txBody>
          <a:bodyPr wrap="square" rtlCol="0">
            <a:spAutoFit/>
          </a:bodyPr>
          <a:lstStyle/>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2B5B985-73EA-56DD-FB80-4354FB168361}"/>
              </a:ext>
            </a:extLst>
          </p:cNvPr>
          <p:cNvSpPr txBox="1"/>
          <p:nvPr/>
        </p:nvSpPr>
        <p:spPr>
          <a:xfrm>
            <a:off x="810704" y="153893"/>
            <a:ext cx="10558021" cy="461665"/>
          </a:xfrm>
          <a:prstGeom prst="rect">
            <a:avLst/>
          </a:prstGeom>
          <a:noFill/>
        </p:spPr>
        <p:txBody>
          <a:bodyPr wrap="square">
            <a:spAutoFit/>
          </a:bodyPr>
          <a:lstStyle/>
          <a:p>
            <a:pPr algn="ctr"/>
            <a:r>
              <a:rPr lang="en-US" sz="2400" b="1" dirty="0">
                <a:solidFill>
                  <a:srgbClr val="FFFF00"/>
                </a:solidFill>
                <a:latin typeface="Times New Roman" panose="02020603050405020304" pitchFamily="18" charset="0"/>
                <a:cs typeface="Times New Roman" panose="02020603050405020304" pitchFamily="18" charset="0"/>
              </a:rPr>
              <a:t>Salary Distribution</a:t>
            </a:r>
          </a:p>
        </p:txBody>
      </p:sp>
      <p:sp>
        <p:nvSpPr>
          <p:cNvPr id="9" name="TextBox 8">
            <a:extLst>
              <a:ext uri="{FF2B5EF4-FFF2-40B4-BE49-F238E27FC236}">
                <a16:creationId xmlns:a16="http://schemas.microsoft.com/office/drawing/2014/main" id="{5BCDC823-C5DF-7DA5-7AD1-CD77AE26D953}"/>
              </a:ext>
            </a:extLst>
          </p:cNvPr>
          <p:cNvSpPr txBox="1"/>
          <p:nvPr/>
        </p:nvSpPr>
        <p:spPr>
          <a:xfrm>
            <a:off x="443061" y="769451"/>
            <a:ext cx="5130124" cy="4893647"/>
          </a:xfrm>
          <a:prstGeom prst="rect">
            <a:avLst/>
          </a:prstGeom>
          <a:noFill/>
        </p:spPr>
        <p:txBody>
          <a:bodyPr wrap="square" rtlCol="0">
            <a:spAutoFit/>
          </a:bodyPr>
          <a:lstStyle/>
          <a:p>
            <a:pPr marL="342900" indent="-342900" algn="just">
              <a:buFont typeface="Wingdings" panose="05000000000000000000" pitchFamily="2" charset="2"/>
              <a:buChar char="ü"/>
            </a:pPr>
            <a:endParaRPr lang="en-US" sz="2000" b="1" dirty="0">
              <a:solidFill>
                <a:srgbClr val="FFFF00"/>
              </a:solidFill>
              <a:latin typeface="Times New Roman" panose="02020603050405020304" pitchFamily="18" charset="0"/>
              <a:cs typeface="Times New Roman" panose="02020603050405020304" pitchFamily="18" charset="0"/>
            </a:endParaRPr>
          </a:p>
          <a:p>
            <a:pPr algn="just"/>
            <a:r>
              <a:rPr lang="en-US" sz="2000" b="1" dirty="0">
                <a:solidFill>
                  <a:srgbClr val="FFFF00"/>
                </a:solidFill>
                <a:latin typeface="Times New Roman" panose="02020603050405020304" pitchFamily="18" charset="0"/>
                <a:cs typeface="Times New Roman" panose="02020603050405020304" pitchFamily="18" charset="0"/>
              </a:rPr>
              <a:t>Observation and Insights</a:t>
            </a:r>
          </a:p>
          <a:p>
            <a:pPr algn="just"/>
            <a:endParaRPr lang="en-US" sz="2000" b="1"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Most salaries are between 10 LPA and 20 LPA, which is the most common salary range.</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Many jobs offer around 12–15 LPA, where the salary frequency is highest.</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A smaller number of jobs offer higher salaries above 25 LPA. </a:t>
            </a:r>
            <a:br>
              <a:rPr lang="en-US" dirty="0">
                <a:solidFill>
                  <a:schemeClr val="bg1"/>
                </a:solidFill>
                <a:latin typeface="Times New Roman" panose="02020603050405020304" pitchFamily="18" charset="0"/>
                <a:cs typeface="Times New Roman" panose="02020603050405020304" pitchFamily="18" charset="0"/>
              </a:rPr>
            </a:br>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Very high salaries are rare, so they appear less in the dataset.</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This creates a right-side tail, meaning only a few jobs have very high salaries.</a:t>
            </a:r>
          </a:p>
        </p:txBody>
      </p:sp>
      <p:pic>
        <p:nvPicPr>
          <p:cNvPr id="2" name="Picture 1">
            <a:extLst>
              <a:ext uri="{FF2B5EF4-FFF2-40B4-BE49-F238E27FC236}">
                <a16:creationId xmlns:a16="http://schemas.microsoft.com/office/drawing/2014/main" id="{DDE4ADF6-57DC-BA95-F99C-1B438F275263}"/>
              </a:ext>
            </a:extLst>
          </p:cNvPr>
          <p:cNvPicPr>
            <a:picLocks noChangeAspect="1"/>
          </p:cNvPicPr>
          <p:nvPr/>
        </p:nvPicPr>
        <p:blipFill>
          <a:blip r:embed="rId3"/>
          <a:stretch>
            <a:fillRect/>
          </a:stretch>
        </p:blipFill>
        <p:spPr>
          <a:xfrm>
            <a:off x="8853815" y="6111588"/>
            <a:ext cx="3338185" cy="723108"/>
          </a:xfrm>
          <a:prstGeom prst="rect">
            <a:avLst/>
          </a:prstGeom>
        </p:spPr>
      </p:pic>
      <p:pic>
        <p:nvPicPr>
          <p:cNvPr id="6" name="Picture 5">
            <a:extLst>
              <a:ext uri="{FF2B5EF4-FFF2-40B4-BE49-F238E27FC236}">
                <a16:creationId xmlns:a16="http://schemas.microsoft.com/office/drawing/2014/main" id="{BCBA35BA-1380-5FA2-0452-242D667E5679}"/>
              </a:ext>
            </a:extLst>
          </p:cNvPr>
          <p:cNvPicPr>
            <a:picLocks noChangeAspect="1"/>
          </p:cNvPicPr>
          <p:nvPr/>
        </p:nvPicPr>
        <p:blipFill>
          <a:blip r:embed="rId4"/>
          <a:stretch>
            <a:fillRect/>
          </a:stretch>
        </p:blipFill>
        <p:spPr>
          <a:xfrm>
            <a:off x="6103593" y="1105929"/>
            <a:ext cx="5645343" cy="4353533"/>
          </a:xfrm>
          <a:prstGeom prst="rect">
            <a:avLst/>
          </a:prstGeom>
        </p:spPr>
      </p:pic>
    </p:spTree>
    <p:extLst>
      <p:ext uri="{BB962C8B-B14F-4D97-AF65-F5344CB8AC3E}">
        <p14:creationId xmlns:p14="http://schemas.microsoft.com/office/powerpoint/2010/main" val="2555253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09">
          <a:extLst>
            <a:ext uri="{FF2B5EF4-FFF2-40B4-BE49-F238E27FC236}">
              <a16:creationId xmlns:a16="http://schemas.microsoft.com/office/drawing/2014/main" id="{9C0014C8-C78D-F2CB-0986-89D623B02B07}"/>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2A9D06A1-DCB9-5E00-5F25-E10D3F5BB5FE}"/>
              </a:ext>
            </a:extLst>
          </p:cNvPr>
          <p:cNvSpPr txBox="1">
            <a:spLocks noGrp="1"/>
          </p:cNvSpPr>
          <p:nvPr>
            <p:ph idx="1"/>
          </p:nvPr>
        </p:nvSpPr>
        <p:spPr>
          <a:xfrm>
            <a:off x="0" y="0"/>
            <a:ext cx="12192000" cy="6857999"/>
          </a:xfrm>
          <a:prstGeom prst="rect">
            <a:avLst/>
          </a:prstGeom>
          <a:solidFill>
            <a:schemeClr val="tx1"/>
          </a:solidFill>
          <a:ln>
            <a:noFill/>
          </a:ln>
        </p:spPr>
        <p:txBody>
          <a:bodyPr spcFirstLastPara="1" wrap="square" lIns="91425" tIns="45700" rIns="91425" bIns="45700" anchor="t" anchorCtr="0">
            <a:normAutofit/>
          </a:bodyPr>
          <a:lstStyle/>
          <a:p>
            <a:r>
              <a:rPr lang="en-US" dirty="0"/>
              <a:t>Observation: Density Plot of Doctor Experience</a:t>
            </a:r>
          </a:p>
          <a:p>
            <a:r>
              <a:rPr lang="en-US" dirty="0"/>
              <a:t>The distribution of </a:t>
            </a:r>
            <a:r>
              <a:rPr lang="en-US" b="1" dirty="0"/>
              <a:t>doctor experience</a:t>
            </a:r>
            <a:r>
              <a:rPr lang="en-US" dirty="0"/>
              <a:t> appears </a:t>
            </a:r>
            <a:r>
              <a:rPr lang="en-US" b="1" dirty="0"/>
              <a:t>right-skewed (positively skewed)</a:t>
            </a:r>
            <a:r>
              <a:rPr lang="en-US" dirty="0"/>
              <a:t>.</a:t>
            </a:r>
          </a:p>
        </p:txBody>
      </p:sp>
      <p:sp>
        <p:nvSpPr>
          <p:cNvPr id="4" name="TextBox 3">
            <a:extLst>
              <a:ext uri="{FF2B5EF4-FFF2-40B4-BE49-F238E27FC236}">
                <a16:creationId xmlns:a16="http://schemas.microsoft.com/office/drawing/2014/main" id="{1C13F0D1-3EFC-B668-7E9B-AD25590FAF68}"/>
              </a:ext>
            </a:extLst>
          </p:cNvPr>
          <p:cNvSpPr txBox="1"/>
          <p:nvPr/>
        </p:nvSpPr>
        <p:spPr>
          <a:xfrm>
            <a:off x="557751" y="153893"/>
            <a:ext cx="11076495" cy="1200329"/>
          </a:xfrm>
          <a:prstGeom prst="rect">
            <a:avLst/>
          </a:prstGeom>
          <a:noFill/>
        </p:spPr>
        <p:txBody>
          <a:bodyPr wrap="square" rtlCol="0">
            <a:spAutoFit/>
          </a:bodyPr>
          <a:lstStyle/>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D3B2670-9E95-1168-878D-17DDB7984052}"/>
              </a:ext>
            </a:extLst>
          </p:cNvPr>
          <p:cNvSpPr txBox="1"/>
          <p:nvPr/>
        </p:nvSpPr>
        <p:spPr>
          <a:xfrm>
            <a:off x="810704" y="153893"/>
            <a:ext cx="10558021" cy="461665"/>
          </a:xfrm>
          <a:prstGeom prst="rect">
            <a:avLst/>
          </a:prstGeom>
          <a:noFill/>
        </p:spPr>
        <p:txBody>
          <a:bodyPr wrap="square">
            <a:spAutoFit/>
          </a:bodyPr>
          <a:lstStyle/>
          <a:p>
            <a:pPr algn="ctr"/>
            <a:r>
              <a:rPr lang="en-US" sz="2400" b="1" dirty="0">
                <a:solidFill>
                  <a:srgbClr val="00B050"/>
                </a:solidFill>
                <a:latin typeface="Times New Roman" panose="02020603050405020304" pitchFamily="18" charset="0"/>
                <a:ea typeface="Calibri" pitchFamily="34" charset="-122"/>
                <a:cs typeface="Times New Roman" panose="02020603050405020304" pitchFamily="18" charset="0"/>
              </a:rPr>
              <a:t>Bivariate Analysis</a:t>
            </a:r>
          </a:p>
        </p:txBody>
      </p:sp>
      <p:sp>
        <p:nvSpPr>
          <p:cNvPr id="9" name="TextBox 8">
            <a:extLst>
              <a:ext uri="{FF2B5EF4-FFF2-40B4-BE49-F238E27FC236}">
                <a16:creationId xmlns:a16="http://schemas.microsoft.com/office/drawing/2014/main" id="{D0B138D3-7695-0E70-CA41-00B5CCB1AF8C}"/>
              </a:ext>
            </a:extLst>
          </p:cNvPr>
          <p:cNvSpPr txBox="1"/>
          <p:nvPr/>
        </p:nvSpPr>
        <p:spPr>
          <a:xfrm>
            <a:off x="185133" y="1185548"/>
            <a:ext cx="5160172" cy="4247317"/>
          </a:xfrm>
          <a:prstGeom prst="rect">
            <a:avLst/>
          </a:prstGeom>
          <a:noFill/>
        </p:spPr>
        <p:txBody>
          <a:bodyPr wrap="square" rtlCol="0">
            <a:spAutoFit/>
          </a:bodyPr>
          <a:lstStyle/>
          <a:p>
            <a:pPr algn="just"/>
            <a:r>
              <a:rPr lang="en-US" b="1" dirty="0">
                <a:solidFill>
                  <a:srgbClr val="FFFF00"/>
                </a:solidFill>
                <a:latin typeface="Times New Roman" panose="02020603050405020304" pitchFamily="18" charset="0"/>
                <a:cs typeface="Times New Roman" panose="02020603050405020304" pitchFamily="18" charset="0"/>
              </a:rPr>
              <a:t>Experience VS Salary</a:t>
            </a:r>
          </a:p>
          <a:p>
            <a:pPr algn="just"/>
            <a:endParaRPr lang="en-US" b="1" dirty="0">
              <a:solidFill>
                <a:srgbClr val="FFFF00"/>
              </a:solidFill>
              <a:latin typeface="Times New Roman" panose="02020603050405020304" pitchFamily="18" charset="0"/>
              <a:cs typeface="Times New Roman" panose="02020603050405020304" pitchFamily="18" charset="0"/>
            </a:endParaRPr>
          </a:p>
          <a:p>
            <a:pPr algn="just"/>
            <a:r>
              <a:rPr lang="en-US" b="1" dirty="0">
                <a:solidFill>
                  <a:srgbClr val="FFFF00"/>
                </a:solidFill>
                <a:latin typeface="Times New Roman" panose="02020603050405020304" pitchFamily="18" charset="0"/>
                <a:cs typeface="Times New Roman" panose="02020603050405020304" pitchFamily="18" charset="0"/>
              </a:rPr>
              <a:t>Observation and Insights</a:t>
            </a:r>
          </a:p>
          <a:p>
            <a:pPr algn="just"/>
            <a:endParaRPr lang="en-US" b="1" dirty="0">
              <a:solidFill>
                <a:srgbClr val="FFFF0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The scatter plot shows the relationship between experience and salary in IT job roles.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Salaries generally increase as experience increases, indicating that professionals with more experience tend to receive higher compensation.</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Most job listings fall within the 2–6 years experience range, showing strong demand for mid-level professionals.</a:t>
            </a:r>
          </a:p>
        </p:txBody>
      </p:sp>
      <p:pic>
        <p:nvPicPr>
          <p:cNvPr id="2" name="Picture 1">
            <a:extLst>
              <a:ext uri="{FF2B5EF4-FFF2-40B4-BE49-F238E27FC236}">
                <a16:creationId xmlns:a16="http://schemas.microsoft.com/office/drawing/2014/main" id="{7CC42577-AC52-6591-3A86-22A4A04F1CF5}"/>
              </a:ext>
            </a:extLst>
          </p:cNvPr>
          <p:cNvPicPr>
            <a:picLocks noChangeAspect="1"/>
          </p:cNvPicPr>
          <p:nvPr/>
        </p:nvPicPr>
        <p:blipFill>
          <a:blip r:embed="rId3"/>
          <a:stretch>
            <a:fillRect/>
          </a:stretch>
        </p:blipFill>
        <p:spPr>
          <a:xfrm>
            <a:off x="8853815" y="6111588"/>
            <a:ext cx="3338185" cy="723108"/>
          </a:xfrm>
          <a:prstGeom prst="rect">
            <a:avLst/>
          </a:prstGeom>
        </p:spPr>
      </p:pic>
      <p:pic>
        <p:nvPicPr>
          <p:cNvPr id="7" name="Picture 6">
            <a:extLst>
              <a:ext uri="{FF2B5EF4-FFF2-40B4-BE49-F238E27FC236}">
                <a16:creationId xmlns:a16="http://schemas.microsoft.com/office/drawing/2014/main" id="{3F6337C7-A62A-D1CD-5FCA-418D19EC1D2A}"/>
              </a:ext>
            </a:extLst>
          </p:cNvPr>
          <p:cNvPicPr>
            <a:picLocks noChangeAspect="1"/>
          </p:cNvPicPr>
          <p:nvPr/>
        </p:nvPicPr>
        <p:blipFill>
          <a:blip r:embed="rId4"/>
          <a:stretch>
            <a:fillRect/>
          </a:stretch>
        </p:blipFill>
        <p:spPr>
          <a:xfrm>
            <a:off x="5530438" y="1185548"/>
            <a:ext cx="6287377" cy="4486901"/>
          </a:xfrm>
          <a:prstGeom prst="rect">
            <a:avLst/>
          </a:prstGeom>
        </p:spPr>
      </p:pic>
    </p:spTree>
    <p:extLst>
      <p:ext uri="{BB962C8B-B14F-4D97-AF65-F5344CB8AC3E}">
        <p14:creationId xmlns:p14="http://schemas.microsoft.com/office/powerpoint/2010/main" val="1845075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09">
          <a:extLst>
            <a:ext uri="{FF2B5EF4-FFF2-40B4-BE49-F238E27FC236}">
              <a16:creationId xmlns:a16="http://schemas.microsoft.com/office/drawing/2014/main" id="{C84D66C6-0DAF-4AD3-779B-41D744B45B53}"/>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6F9E8132-66F3-8719-3E7A-7BC04EF6FE77}"/>
              </a:ext>
            </a:extLst>
          </p:cNvPr>
          <p:cNvSpPr txBox="1">
            <a:spLocks noGrp="1"/>
          </p:cNvSpPr>
          <p:nvPr>
            <p:ph idx="1"/>
          </p:nvPr>
        </p:nvSpPr>
        <p:spPr>
          <a:xfrm>
            <a:off x="0" y="0"/>
            <a:ext cx="12192000" cy="6857999"/>
          </a:xfrm>
          <a:prstGeom prst="rect">
            <a:avLst/>
          </a:prstGeom>
          <a:solidFill>
            <a:schemeClr val="tx1"/>
          </a:solidFill>
          <a:ln>
            <a:noFill/>
          </a:ln>
        </p:spPr>
        <p:txBody>
          <a:bodyPr spcFirstLastPara="1" wrap="square" lIns="91425" tIns="45700" rIns="91425" bIns="45700" anchor="t" anchorCtr="0">
            <a:normAutofit/>
          </a:bodyPr>
          <a:lstStyle/>
          <a:p>
            <a:r>
              <a:rPr lang="en-US" dirty="0"/>
              <a:t>Observation: Density Plot of Doctor Experience</a:t>
            </a:r>
          </a:p>
          <a:p>
            <a:r>
              <a:rPr lang="en-US" dirty="0"/>
              <a:t>The distribution of </a:t>
            </a:r>
            <a:r>
              <a:rPr lang="en-US" b="1" dirty="0"/>
              <a:t>doctor experience</a:t>
            </a:r>
            <a:r>
              <a:rPr lang="en-US" dirty="0"/>
              <a:t> appears </a:t>
            </a:r>
            <a:r>
              <a:rPr lang="en-US" b="1" dirty="0"/>
              <a:t>right-skewed (positively skewed)</a:t>
            </a:r>
            <a:r>
              <a:rPr lang="en-US" dirty="0"/>
              <a:t>.</a:t>
            </a:r>
          </a:p>
        </p:txBody>
      </p:sp>
      <p:sp>
        <p:nvSpPr>
          <p:cNvPr id="4" name="TextBox 3">
            <a:extLst>
              <a:ext uri="{FF2B5EF4-FFF2-40B4-BE49-F238E27FC236}">
                <a16:creationId xmlns:a16="http://schemas.microsoft.com/office/drawing/2014/main" id="{8148FCEB-3EFE-04AD-45CE-65C6F5AE90F5}"/>
              </a:ext>
            </a:extLst>
          </p:cNvPr>
          <p:cNvSpPr txBox="1"/>
          <p:nvPr/>
        </p:nvSpPr>
        <p:spPr>
          <a:xfrm>
            <a:off x="557751" y="153893"/>
            <a:ext cx="11076495" cy="1200329"/>
          </a:xfrm>
          <a:prstGeom prst="rect">
            <a:avLst/>
          </a:prstGeom>
          <a:noFill/>
        </p:spPr>
        <p:txBody>
          <a:bodyPr wrap="square" rtlCol="0">
            <a:spAutoFit/>
          </a:bodyPr>
          <a:lstStyle/>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6D0A8B4-8400-F09D-D894-0FFDF71C4845}"/>
              </a:ext>
            </a:extLst>
          </p:cNvPr>
          <p:cNvSpPr txBox="1"/>
          <p:nvPr/>
        </p:nvSpPr>
        <p:spPr>
          <a:xfrm>
            <a:off x="810704" y="153893"/>
            <a:ext cx="10558021" cy="461665"/>
          </a:xfrm>
          <a:prstGeom prst="rect">
            <a:avLst/>
          </a:prstGeom>
          <a:noFill/>
        </p:spPr>
        <p:txBody>
          <a:bodyPr wrap="square">
            <a:spAutoFit/>
          </a:bodyPr>
          <a:lstStyle/>
          <a:p>
            <a:pPr algn="ctr"/>
            <a:r>
              <a:rPr lang="en-US" sz="2400" b="1" dirty="0">
                <a:solidFill>
                  <a:srgbClr val="FFFF00"/>
                </a:solidFill>
                <a:latin typeface="Times New Roman" panose="02020603050405020304" pitchFamily="18" charset="0"/>
                <a:cs typeface="Times New Roman" panose="02020603050405020304" pitchFamily="18" charset="0"/>
              </a:rPr>
              <a:t>Role VS Salary</a:t>
            </a:r>
          </a:p>
        </p:txBody>
      </p:sp>
      <p:sp>
        <p:nvSpPr>
          <p:cNvPr id="9" name="TextBox 8">
            <a:extLst>
              <a:ext uri="{FF2B5EF4-FFF2-40B4-BE49-F238E27FC236}">
                <a16:creationId xmlns:a16="http://schemas.microsoft.com/office/drawing/2014/main" id="{F1B48D63-EFDF-13AA-847A-F62BC59221F8}"/>
              </a:ext>
            </a:extLst>
          </p:cNvPr>
          <p:cNvSpPr txBox="1"/>
          <p:nvPr/>
        </p:nvSpPr>
        <p:spPr>
          <a:xfrm>
            <a:off x="311084" y="769451"/>
            <a:ext cx="5380047" cy="4616648"/>
          </a:xfrm>
          <a:prstGeom prst="rect">
            <a:avLst/>
          </a:prstGeom>
          <a:noFill/>
        </p:spPr>
        <p:txBody>
          <a:bodyPr wrap="square" rtlCol="0">
            <a:spAutoFit/>
          </a:bodyPr>
          <a:lstStyle/>
          <a:p>
            <a:pPr algn="just"/>
            <a:endParaRPr lang="en-US" sz="2000" b="1" dirty="0">
              <a:solidFill>
                <a:srgbClr val="FFFF00"/>
              </a:solidFill>
              <a:latin typeface="Times New Roman" panose="02020603050405020304" pitchFamily="18" charset="0"/>
              <a:cs typeface="Times New Roman" panose="02020603050405020304" pitchFamily="18" charset="0"/>
            </a:endParaRPr>
          </a:p>
          <a:p>
            <a:pPr algn="just"/>
            <a:r>
              <a:rPr lang="en-US" sz="2000" b="1" dirty="0">
                <a:solidFill>
                  <a:srgbClr val="FFFF00"/>
                </a:solidFill>
                <a:latin typeface="Times New Roman" panose="02020603050405020304" pitchFamily="18" charset="0"/>
                <a:cs typeface="Times New Roman" panose="02020603050405020304" pitchFamily="18" charset="0"/>
              </a:rPr>
              <a:t>Observation and Insights</a:t>
            </a:r>
          </a:p>
          <a:p>
            <a:pPr algn="just"/>
            <a:endParaRPr lang="en-US" sz="2000" b="1" dirty="0">
              <a:solidFill>
                <a:srgbClr val="FFFF0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The boxplot compares salary distribution across different IT job roles.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Roles such as Senior Software Engineer and Data Scientist show higher median salaries, indicating higher compensation for advanced technical roles.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Some roles display wider salary ranges, suggesting variation in experience levels and responsibilities within those roles.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The boxplot compares salary distribution across different IT job roles.</a:t>
            </a:r>
          </a:p>
        </p:txBody>
      </p:sp>
      <p:pic>
        <p:nvPicPr>
          <p:cNvPr id="2" name="Picture 1">
            <a:extLst>
              <a:ext uri="{FF2B5EF4-FFF2-40B4-BE49-F238E27FC236}">
                <a16:creationId xmlns:a16="http://schemas.microsoft.com/office/drawing/2014/main" id="{9DA32111-755A-5458-DF7D-8C12810FAD2A}"/>
              </a:ext>
            </a:extLst>
          </p:cNvPr>
          <p:cNvPicPr>
            <a:picLocks noChangeAspect="1"/>
          </p:cNvPicPr>
          <p:nvPr/>
        </p:nvPicPr>
        <p:blipFill>
          <a:blip r:embed="rId3"/>
          <a:stretch>
            <a:fillRect/>
          </a:stretch>
        </p:blipFill>
        <p:spPr>
          <a:xfrm>
            <a:off x="8853815" y="6111588"/>
            <a:ext cx="3338185" cy="723108"/>
          </a:xfrm>
          <a:prstGeom prst="rect">
            <a:avLst/>
          </a:prstGeom>
        </p:spPr>
      </p:pic>
      <p:pic>
        <p:nvPicPr>
          <p:cNvPr id="7" name="Picture 6">
            <a:extLst>
              <a:ext uri="{FF2B5EF4-FFF2-40B4-BE49-F238E27FC236}">
                <a16:creationId xmlns:a16="http://schemas.microsoft.com/office/drawing/2014/main" id="{F6F8783F-10B4-84D1-9178-A4AB16F4FA98}"/>
              </a:ext>
            </a:extLst>
          </p:cNvPr>
          <p:cNvPicPr>
            <a:picLocks noChangeAspect="1"/>
          </p:cNvPicPr>
          <p:nvPr/>
        </p:nvPicPr>
        <p:blipFill>
          <a:blip r:embed="rId4"/>
          <a:stretch>
            <a:fillRect/>
          </a:stretch>
        </p:blipFill>
        <p:spPr>
          <a:xfrm>
            <a:off x="6089714" y="754057"/>
            <a:ext cx="5824083" cy="5120640"/>
          </a:xfrm>
          <a:prstGeom prst="rect">
            <a:avLst/>
          </a:prstGeom>
        </p:spPr>
      </p:pic>
    </p:spTree>
    <p:extLst>
      <p:ext uri="{BB962C8B-B14F-4D97-AF65-F5344CB8AC3E}">
        <p14:creationId xmlns:p14="http://schemas.microsoft.com/office/powerpoint/2010/main" val="1612555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09">
          <a:extLst>
            <a:ext uri="{FF2B5EF4-FFF2-40B4-BE49-F238E27FC236}">
              <a16:creationId xmlns:a16="http://schemas.microsoft.com/office/drawing/2014/main" id="{484F875A-3D54-1243-1A3B-7685AB11D53D}"/>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958CC933-227A-CBA1-F360-C378FA466A56}"/>
              </a:ext>
            </a:extLst>
          </p:cNvPr>
          <p:cNvSpPr txBox="1">
            <a:spLocks noGrp="1"/>
          </p:cNvSpPr>
          <p:nvPr>
            <p:ph idx="1"/>
          </p:nvPr>
        </p:nvSpPr>
        <p:spPr>
          <a:xfrm>
            <a:off x="0" y="0"/>
            <a:ext cx="12192000" cy="6857999"/>
          </a:xfrm>
          <a:prstGeom prst="rect">
            <a:avLst/>
          </a:prstGeom>
          <a:solidFill>
            <a:schemeClr val="tx1"/>
          </a:solidFill>
          <a:ln>
            <a:noFill/>
          </a:ln>
        </p:spPr>
        <p:txBody>
          <a:bodyPr spcFirstLastPara="1" wrap="square" lIns="91425" tIns="45700" rIns="91425" bIns="45700" anchor="t" anchorCtr="0">
            <a:normAutofit/>
          </a:bodyPr>
          <a:lstStyle/>
          <a:p>
            <a:r>
              <a:rPr lang="en-US" dirty="0"/>
              <a:t>Observation: Density Plot of Doctor Experience</a:t>
            </a:r>
          </a:p>
          <a:p>
            <a:r>
              <a:rPr lang="en-US" dirty="0"/>
              <a:t>The distribution of </a:t>
            </a:r>
            <a:r>
              <a:rPr lang="en-US" b="1" dirty="0"/>
              <a:t>doctor experience</a:t>
            </a:r>
            <a:r>
              <a:rPr lang="en-US" dirty="0"/>
              <a:t> appears </a:t>
            </a:r>
            <a:r>
              <a:rPr lang="en-US" b="1" dirty="0"/>
              <a:t>right-skewed (positively skewed)</a:t>
            </a:r>
            <a:r>
              <a:rPr lang="en-US" dirty="0"/>
              <a:t>.</a:t>
            </a:r>
          </a:p>
        </p:txBody>
      </p:sp>
      <p:sp>
        <p:nvSpPr>
          <p:cNvPr id="4" name="TextBox 3">
            <a:extLst>
              <a:ext uri="{FF2B5EF4-FFF2-40B4-BE49-F238E27FC236}">
                <a16:creationId xmlns:a16="http://schemas.microsoft.com/office/drawing/2014/main" id="{02557DC4-D799-B476-AAE8-3D82C2A8813E}"/>
              </a:ext>
            </a:extLst>
          </p:cNvPr>
          <p:cNvSpPr txBox="1"/>
          <p:nvPr/>
        </p:nvSpPr>
        <p:spPr>
          <a:xfrm>
            <a:off x="557751" y="153893"/>
            <a:ext cx="11076495" cy="1200329"/>
          </a:xfrm>
          <a:prstGeom prst="rect">
            <a:avLst/>
          </a:prstGeom>
          <a:noFill/>
        </p:spPr>
        <p:txBody>
          <a:bodyPr wrap="square" rtlCol="0">
            <a:spAutoFit/>
          </a:bodyPr>
          <a:lstStyle/>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4AC7840-D22A-57C3-317E-994CBC1DFDB6}"/>
              </a:ext>
            </a:extLst>
          </p:cNvPr>
          <p:cNvSpPr txBox="1"/>
          <p:nvPr/>
        </p:nvSpPr>
        <p:spPr>
          <a:xfrm>
            <a:off x="810704" y="153893"/>
            <a:ext cx="10558021" cy="461665"/>
          </a:xfrm>
          <a:prstGeom prst="rect">
            <a:avLst/>
          </a:prstGeom>
          <a:noFill/>
        </p:spPr>
        <p:txBody>
          <a:bodyPr wrap="square">
            <a:spAutoFit/>
          </a:bodyPr>
          <a:lstStyle/>
          <a:p>
            <a:pPr algn="ctr"/>
            <a:r>
              <a:rPr lang="en-US" sz="2400" b="1" dirty="0">
                <a:solidFill>
                  <a:srgbClr val="FFFF00"/>
                </a:solidFill>
                <a:latin typeface="Times New Roman" panose="02020603050405020304" pitchFamily="18" charset="0"/>
                <a:cs typeface="Times New Roman" panose="02020603050405020304" pitchFamily="18" charset="0"/>
              </a:rPr>
              <a:t>Salary VS Experience Trend</a:t>
            </a:r>
          </a:p>
        </p:txBody>
      </p:sp>
      <p:sp>
        <p:nvSpPr>
          <p:cNvPr id="9" name="TextBox 8">
            <a:extLst>
              <a:ext uri="{FF2B5EF4-FFF2-40B4-BE49-F238E27FC236}">
                <a16:creationId xmlns:a16="http://schemas.microsoft.com/office/drawing/2014/main" id="{535EA22E-48FF-1A06-4784-003552E76B78}"/>
              </a:ext>
            </a:extLst>
          </p:cNvPr>
          <p:cNvSpPr txBox="1"/>
          <p:nvPr/>
        </p:nvSpPr>
        <p:spPr>
          <a:xfrm>
            <a:off x="311083" y="1120675"/>
            <a:ext cx="5297865" cy="4801314"/>
          </a:xfrm>
          <a:prstGeom prst="rect">
            <a:avLst/>
          </a:prstGeom>
          <a:noFill/>
        </p:spPr>
        <p:txBody>
          <a:bodyPr wrap="square" rtlCol="0">
            <a:spAutoFit/>
          </a:bodyPr>
          <a:lstStyle/>
          <a:p>
            <a:pPr marL="342900" indent="-342900" algn="just">
              <a:buFont typeface="Wingdings" panose="05000000000000000000" pitchFamily="2" charset="2"/>
              <a:buChar char="ü"/>
            </a:pPr>
            <a:endParaRPr lang="en-US" b="1" dirty="0">
              <a:solidFill>
                <a:srgbClr val="FFFF00"/>
              </a:solidFill>
              <a:latin typeface="Times New Roman" panose="02020603050405020304" pitchFamily="18" charset="0"/>
              <a:cs typeface="Times New Roman" panose="02020603050405020304" pitchFamily="18" charset="0"/>
            </a:endParaRPr>
          </a:p>
          <a:p>
            <a:pPr algn="just"/>
            <a:r>
              <a:rPr lang="en-US" b="1" dirty="0">
                <a:solidFill>
                  <a:srgbClr val="FFFF00"/>
                </a:solidFill>
                <a:latin typeface="Times New Roman" panose="02020603050405020304" pitchFamily="18" charset="0"/>
                <a:cs typeface="Times New Roman" panose="02020603050405020304" pitchFamily="18" charset="0"/>
              </a:rPr>
              <a:t>Observation and Insights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The line chart shows how average salary changes with increasing experience levels.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Salary generally increases as experience increases, indicating that experienced professionals receive higher compensation</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The trend shows that mid-level to senior professionals tend to have higher salary growth compared to entry-level roles.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Some fluctuations in the trend indicate that salary also depends on factors such as role, company, and specialization, not only experience</a:t>
            </a:r>
          </a:p>
        </p:txBody>
      </p:sp>
      <p:pic>
        <p:nvPicPr>
          <p:cNvPr id="2" name="Picture 1">
            <a:extLst>
              <a:ext uri="{FF2B5EF4-FFF2-40B4-BE49-F238E27FC236}">
                <a16:creationId xmlns:a16="http://schemas.microsoft.com/office/drawing/2014/main" id="{86B2BFB8-6D53-AAFB-F94F-142244464700}"/>
              </a:ext>
            </a:extLst>
          </p:cNvPr>
          <p:cNvPicPr>
            <a:picLocks noChangeAspect="1"/>
          </p:cNvPicPr>
          <p:nvPr/>
        </p:nvPicPr>
        <p:blipFill>
          <a:blip r:embed="rId3"/>
          <a:stretch>
            <a:fillRect/>
          </a:stretch>
        </p:blipFill>
        <p:spPr>
          <a:xfrm>
            <a:off x="8853815" y="6111588"/>
            <a:ext cx="3338185" cy="723108"/>
          </a:xfrm>
          <a:prstGeom prst="rect">
            <a:avLst/>
          </a:prstGeom>
        </p:spPr>
      </p:pic>
      <p:pic>
        <p:nvPicPr>
          <p:cNvPr id="7" name="Picture 6">
            <a:extLst>
              <a:ext uri="{FF2B5EF4-FFF2-40B4-BE49-F238E27FC236}">
                <a16:creationId xmlns:a16="http://schemas.microsoft.com/office/drawing/2014/main" id="{DF807ED4-8645-CD39-49B1-83002E003E9C}"/>
              </a:ext>
            </a:extLst>
          </p:cNvPr>
          <p:cNvPicPr>
            <a:picLocks noChangeAspect="1"/>
          </p:cNvPicPr>
          <p:nvPr/>
        </p:nvPicPr>
        <p:blipFill>
          <a:blip r:embed="rId4"/>
          <a:stretch>
            <a:fillRect/>
          </a:stretch>
        </p:blipFill>
        <p:spPr>
          <a:xfrm>
            <a:off x="6166698" y="962233"/>
            <a:ext cx="5758205" cy="4697903"/>
          </a:xfrm>
          <a:prstGeom prst="rect">
            <a:avLst/>
          </a:prstGeom>
        </p:spPr>
      </p:pic>
    </p:spTree>
    <p:extLst>
      <p:ext uri="{BB962C8B-B14F-4D97-AF65-F5344CB8AC3E}">
        <p14:creationId xmlns:p14="http://schemas.microsoft.com/office/powerpoint/2010/main" val="3171347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09">
          <a:extLst>
            <a:ext uri="{FF2B5EF4-FFF2-40B4-BE49-F238E27FC236}">
              <a16:creationId xmlns:a16="http://schemas.microsoft.com/office/drawing/2014/main" id="{23831A6E-B457-AB8E-012E-1BBF335947CD}"/>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583FA0AF-ED93-885F-116F-154160638CF8}"/>
              </a:ext>
            </a:extLst>
          </p:cNvPr>
          <p:cNvSpPr txBox="1">
            <a:spLocks noGrp="1"/>
          </p:cNvSpPr>
          <p:nvPr>
            <p:ph idx="1"/>
          </p:nvPr>
        </p:nvSpPr>
        <p:spPr>
          <a:xfrm>
            <a:off x="0" y="0"/>
            <a:ext cx="12192000" cy="6857999"/>
          </a:xfrm>
          <a:prstGeom prst="rect">
            <a:avLst/>
          </a:prstGeom>
          <a:solidFill>
            <a:schemeClr val="tx1"/>
          </a:solidFill>
          <a:ln>
            <a:noFill/>
          </a:ln>
        </p:spPr>
        <p:txBody>
          <a:bodyPr spcFirstLastPara="1" wrap="square" lIns="91425" tIns="45700" rIns="91425" bIns="45700" anchor="t" anchorCtr="0">
            <a:normAutofit/>
          </a:bodyPr>
          <a:lstStyle/>
          <a:p>
            <a:r>
              <a:rPr lang="en-US" dirty="0"/>
              <a:t>Observation: Density Plot of Doctor Experience</a:t>
            </a:r>
          </a:p>
          <a:p>
            <a:r>
              <a:rPr lang="en-US" dirty="0"/>
              <a:t>The distribution of </a:t>
            </a:r>
            <a:r>
              <a:rPr lang="en-US" b="1" dirty="0"/>
              <a:t>doctor experience</a:t>
            </a:r>
            <a:r>
              <a:rPr lang="en-US" dirty="0"/>
              <a:t> appears </a:t>
            </a:r>
            <a:r>
              <a:rPr lang="en-US" b="1" dirty="0"/>
              <a:t>right-skewed (positively skewed)</a:t>
            </a:r>
            <a:r>
              <a:rPr lang="en-US" dirty="0"/>
              <a:t>.</a:t>
            </a:r>
          </a:p>
        </p:txBody>
      </p:sp>
      <p:sp>
        <p:nvSpPr>
          <p:cNvPr id="4" name="TextBox 3">
            <a:extLst>
              <a:ext uri="{FF2B5EF4-FFF2-40B4-BE49-F238E27FC236}">
                <a16:creationId xmlns:a16="http://schemas.microsoft.com/office/drawing/2014/main" id="{9494E9D0-F4D2-4524-E2E2-4043C8FE52D5}"/>
              </a:ext>
            </a:extLst>
          </p:cNvPr>
          <p:cNvSpPr txBox="1"/>
          <p:nvPr/>
        </p:nvSpPr>
        <p:spPr>
          <a:xfrm>
            <a:off x="551466" y="90360"/>
            <a:ext cx="11076495" cy="1200329"/>
          </a:xfrm>
          <a:prstGeom prst="rect">
            <a:avLst/>
          </a:prstGeom>
          <a:noFill/>
        </p:spPr>
        <p:txBody>
          <a:bodyPr wrap="square" rtlCol="0">
            <a:spAutoFit/>
          </a:bodyPr>
          <a:lstStyle/>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4B21A9B-A72F-547A-8EDD-867ADF841B38}"/>
              </a:ext>
            </a:extLst>
          </p:cNvPr>
          <p:cNvSpPr txBox="1"/>
          <p:nvPr/>
        </p:nvSpPr>
        <p:spPr>
          <a:xfrm>
            <a:off x="810704" y="153893"/>
            <a:ext cx="10558021" cy="461665"/>
          </a:xfrm>
          <a:prstGeom prst="rect">
            <a:avLst/>
          </a:prstGeom>
          <a:noFill/>
        </p:spPr>
        <p:txBody>
          <a:bodyPr wrap="square">
            <a:spAutoFit/>
          </a:bodyPr>
          <a:lstStyle/>
          <a:p>
            <a:pPr algn="ctr"/>
            <a:r>
              <a:rPr lang="en-US" sz="2400" b="1" dirty="0">
                <a:solidFill>
                  <a:srgbClr val="00B050"/>
                </a:solidFill>
                <a:latin typeface="Times New Roman" panose="02020603050405020304" pitchFamily="18" charset="0"/>
                <a:cs typeface="Times New Roman" panose="02020603050405020304" pitchFamily="18" charset="0"/>
              </a:rPr>
              <a:t>Multi-Variate Analysis</a:t>
            </a:r>
          </a:p>
        </p:txBody>
      </p:sp>
      <p:sp>
        <p:nvSpPr>
          <p:cNvPr id="9" name="TextBox 8">
            <a:extLst>
              <a:ext uri="{FF2B5EF4-FFF2-40B4-BE49-F238E27FC236}">
                <a16:creationId xmlns:a16="http://schemas.microsoft.com/office/drawing/2014/main" id="{1E7CE7F5-6569-C6C0-58E9-7B9584A03A80}"/>
              </a:ext>
            </a:extLst>
          </p:cNvPr>
          <p:cNvSpPr txBox="1"/>
          <p:nvPr/>
        </p:nvSpPr>
        <p:spPr>
          <a:xfrm>
            <a:off x="246665" y="910198"/>
            <a:ext cx="5122598" cy="5170646"/>
          </a:xfrm>
          <a:prstGeom prst="rect">
            <a:avLst/>
          </a:prstGeom>
          <a:noFill/>
        </p:spPr>
        <p:txBody>
          <a:bodyPr wrap="square" rtlCol="0">
            <a:spAutoFit/>
          </a:bodyPr>
          <a:lstStyle/>
          <a:p>
            <a:pPr algn="just"/>
            <a:r>
              <a:rPr lang="en-US" b="1" dirty="0">
                <a:solidFill>
                  <a:srgbClr val="FFFF00"/>
                </a:solidFill>
                <a:latin typeface="Times New Roman" panose="02020603050405020304" pitchFamily="18" charset="0"/>
                <a:cs typeface="Times New Roman" panose="02020603050405020304" pitchFamily="18" charset="0"/>
              </a:rPr>
              <a:t>Experience + Role + Salary</a:t>
            </a:r>
          </a:p>
          <a:p>
            <a:pPr algn="just"/>
            <a:endParaRPr lang="en-US" b="1" dirty="0">
              <a:solidFill>
                <a:srgbClr val="FFFF00"/>
              </a:solidFill>
              <a:latin typeface="Times New Roman" panose="02020603050405020304" pitchFamily="18" charset="0"/>
              <a:cs typeface="Times New Roman" panose="02020603050405020304" pitchFamily="18" charset="0"/>
            </a:endParaRPr>
          </a:p>
          <a:p>
            <a:pPr algn="just"/>
            <a:r>
              <a:rPr lang="en-US" b="1" dirty="0">
                <a:solidFill>
                  <a:srgbClr val="FFFF00"/>
                </a:solidFill>
                <a:latin typeface="Times New Roman" panose="02020603050405020304" pitchFamily="18" charset="0"/>
                <a:cs typeface="Times New Roman" panose="02020603050405020304" pitchFamily="18" charset="0"/>
              </a:rPr>
              <a:t>Observation and Insights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The scatter plot analyzes the relationship between experience, salary, and job role in the IT job market.</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The chart shows that salary generally increases with experience across most roles.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Some roles, such as Application Developer and Java Developer, show higher salary values at moderate experience levels.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The variation in salary for the same experience level indicates that salary is influenced by job role and specialization.</a:t>
            </a:r>
          </a:p>
        </p:txBody>
      </p:sp>
      <p:pic>
        <p:nvPicPr>
          <p:cNvPr id="2" name="Picture 1">
            <a:extLst>
              <a:ext uri="{FF2B5EF4-FFF2-40B4-BE49-F238E27FC236}">
                <a16:creationId xmlns:a16="http://schemas.microsoft.com/office/drawing/2014/main" id="{224438F0-62DC-4DD1-4FB1-7121AE5B10D8}"/>
              </a:ext>
            </a:extLst>
          </p:cNvPr>
          <p:cNvPicPr>
            <a:picLocks noChangeAspect="1"/>
          </p:cNvPicPr>
          <p:nvPr/>
        </p:nvPicPr>
        <p:blipFill>
          <a:blip r:embed="rId3"/>
          <a:stretch>
            <a:fillRect/>
          </a:stretch>
        </p:blipFill>
        <p:spPr>
          <a:xfrm>
            <a:off x="8853815" y="6111588"/>
            <a:ext cx="3338185" cy="723108"/>
          </a:xfrm>
          <a:prstGeom prst="rect">
            <a:avLst/>
          </a:prstGeom>
        </p:spPr>
      </p:pic>
      <p:pic>
        <p:nvPicPr>
          <p:cNvPr id="7" name="Picture 6">
            <a:extLst>
              <a:ext uri="{FF2B5EF4-FFF2-40B4-BE49-F238E27FC236}">
                <a16:creationId xmlns:a16="http://schemas.microsoft.com/office/drawing/2014/main" id="{52F87C9E-042A-1A90-CE2E-4D15C5E9A43B}"/>
              </a:ext>
            </a:extLst>
          </p:cNvPr>
          <p:cNvPicPr>
            <a:picLocks noChangeAspect="1"/>
          </p:cNvPicPr>
          <p:nvPr/>
        </p:nvPicPr>
        <p:blipFill>
          <a:blip r:embed="rId4"/>
          <a:stretch>
            <a:fillRect/>
          </a:stretch>
        </p:blipFill>
        <p:spPr>
          <a:xfrm>
            <a:off x="5486399" y="1024129"/>
            <a:ext cx="6458936" cy="4800600"/>
          </a:xfrm>
          <a:prstGeom prst="rect">
            <a:avLst/>
          </a:prstGeom>
        </p:spPr>
      </p:pic>
    </p:spTree>
    <p:extLst>
      <p:ext uri="{BB962C8B-B14F-4D97-AF65-F5344CB8AC3E}">
        <p14:creationId xmlns:p14="http://schemas.microsoft.com/office/powerpoint/2010/main" val="832933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09">
          <a:extLst>
            <a:ext uri="{FF2B5EF4-FFF2-40B4-BE49-F238E27FC236}">
              <a16:creationId xmlns:a16="http://schemas.microsoft.com/office/drawing/2014/main" id="{CF02CB4F-E5F7-4387-E970-61BA7D6D7EFF}"/>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871DA994-8296-0A98-A9C2-8D94E21B25CD}"/>
              </a:ext>
            </a:extLst>
          </p:cNvPr>
          <p:cNvSpPr txBox="1">
            <a:spLocks noGrp="1"/>
          </p:cNvSpPr>
          <p:nvPr>
            <p:ph idx="1"/>
          </p:nvPr>
        </p:nvSpPr>
        <p:spPr>
          <a:xfrm>
            <a:off x="0" y="0"/>
            <a:ext cx="12192000" cy="6857999"/>
          </a:xfrm>
          <a:prstGeom prst="rect">
            <a:avLst/>
          </a:prstGeom>
          <a:solidFill>
            <a:schemeClr val="tx1"/>
          </a:solidFill>
          <a:ln>
            <a:noFill/>
          </a:ln>
        </p:spPr>
        <p:txBody>
          <a:bodyPr spcFirstLastPara="1" wrap="square" lIns="91425" tIns="45700" rIns="91425" bIns="45700" anchor="t" anchorCtr="0">
            <a:normAutofit/>
          </a:bodyPr>
          <a:lstStyle/>
          <a:p>
            <a:r>
              <a:rPr lang="en-US" dirty="0"/>
              <a:t>Observation: Density Plot of Doctor Experience</a:t>
            </a:r>
          </a:p>
          <a:p>
            <a:r>
              <a:rPr lang="en-US" dirty="0"/>
              <a:t>The distribution of </a:t>
            </a:r>
            <a:r>
              <a:rPr lang="en-US" b="1" dirty="0"/>
              <a:t>doctor experience</a:t>
            </a:r>
            <a:r>
              <a:rPr lang="en-US" dirty="0"/>
              <a:t> appears </a:t>
            </a:r>
            <a:r>
              <a:rPr lang="en-US" b="1" dirty="0"/>
              <a:t>right-skewed (positively skewed)</a:t>
            </a:r>
            <a:r>
              <a:rPr lang="en-US" dirty="0"/>
              <a:t>.</a:t>
            </a:r>
          </a:p>
        </p:txBody>
      </p:sp>
      <p:sp>
        <p:nvSpPr>
          <p:cNvPr id="4" name="TextBox 3">
            <a:extLst>
              <a:ext uri="{FF2B5EF4-FFF2-40B4-BE49-F238E27FC236}">
                <a16:creationId xmlns:a16="http://schemas.microsoft.com/office/drawing/2014/main" id="{EF4DA1EF-39D7-4750-61C7-E1889B8B5D71}"/>
              </a:ext>
            </a:extLst>
          </p:cNvPr>
          <p:cNvSpPr txBox="1"/>
          <p:nvPr/>
        </p:nvSpPr>
        <p:spPr>
          <a:xfrm>
            <a:off x="551466" y="90360"/>
            <a:ext cx="11076495" cy="1200329"/>
          </a:xfrm>
          <a:prstGeom prst="rect">
            <a:avLst/>
          </a:prstGeom>
          <a:noFill/>
        </p:spPr>
        <p:txBody>
          <a:bodyPr wrap="square" rtlCol="0">
            <a:spAutoFit/>
          </a:bodyPr>
          <a:lstStyle/>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C595030-E8F8-B853-1B1E-05A7D4C41FB8}"/>
              </a:ext>
            </a:extLst>
          </p:cNvPr>
          <p:cNvSpPr txBox="1"/>
          <p:nvPr/>
        </p:nvSpPr>
        <p:spPr>
          <a:xfrm>
            <a:off x="810704" y="153893"/>
            <a:ext cx="10558021" cy="461665"/>
          </a:xfrm>
          <a:prstGeom prst="rect">
            <a:avLst/>
          </a:prstGeom>
          <a:noFill/>
        </p:spPr>
        <p:txBody>
          <a:bodyPr wrap="square">
            <a:spAutoFit/>
          </a:bodyPr>
          <a:lstStyle/>
          <a:p>
            <a:pPr algn="ctr"/>
            <a:r>
              <a:rPr lang="en-US" sz="2400" b="1" dirty="0">
                <a:solidFill>
                  <a:srgbClr val="FFFF00"/>
                </a:solidFill>
                <a:latin typeface="Times New Roman" panose="02020603050405020304" pitchFamily="18" charset="0"/>
                <a:cs typeface="Times New Roman" panose="02020603050405020304" pitchFamily="18" charset="0"/>
              </a:rPr>
              <a:t>Location + Role + Salary</a:t>
            </a:r>
          </a:p>
        </p:txBody>
      </p:sp>
      <p:sp>
        <p:nvSpPr>
          <p:cNvPr id="9" name="TextBox 8">
            <a:extLst>
              <a:ext uri="{FF2B5EF4-FFF2-40B4-BE49-F238E27FC236}">
                <a16:creationId xmlns:a16="http://schemas.microsoft.com/office/drawing/2014/main" id="{A4CCB98E-56B6-B316-E27D-AC25DC0B3762}"/>
              </a:ext>
            </a:extLst>
          </p:cNvPr>
          <p:cNvSpPr txBox="1"/>
          <p:nvPr/>
        </p:nvSpPr>
        <p:spPr>
          <a:xfrm>
            <a:off x="246665" y="633977"/>
            <a:ext cx="5122598" cy="5632311"/>
          </a:xfrm>
          <a:prstGeom prst="rect">
            <a:avLst/>
          </a:prstGeom>
          <a:noFill/>
        </p:spPr>
        <p:txBody>
          <a:bodyPr wrap="square" rtlCol="0">
            <a:spAutoFit/>
          </a:bodyPr>
          <a:lstStyle/>
          <a:p>
            <a:pPr algn="just"/>
            <a:endParaRPr lang="en-US" b="1" dirty="0">
              <a:solidFill>
                <a:srgbClr val="FFFF00"/>
              </a:solidFill>
              <a:latin typeface="Times New Roman" panose="02020603050405020304" pitchFamily="18" charset="0"/>
              <a:cs typeface="Times New Roman" panose="02020603050405020304" pitchFamily="18" charset="0"/>
            </a:endParaRPr>
          </a:p>
          <a:p>
            <a:pPr algn="just"/>
            <a:r>
              <a:rPr lang="en-US" b="1" dirty="0">
                <a:solidFill>
                  <a:srgbClr val="FFFF00"/>
                </a:solidFill>
                <a:latin typeface="Times New Roman" panose="02020603050405020304" pitchFamily="18" charset="0"/>
                <a:cs typeface="Times New Roman" panose="02020603050405020304" pitchFamily="18" charset="0"/>
              </a:rPr>
              <a:t>Observation and Insights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This chart compares average salary across different job roles and locations in the IT job market.</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Major IT hubs such as Bangalore, Hyderabad, Pune, and Mumbai show competitive salary levels across multiple roles.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Some roles demonstrate higher salary values in specific cities, reflecting the influence of regional demand for technical skills</a:t>
            </a:r>
            <a:r>
              <a:rPr lang="en-US" dirty="0">
                <a:latin typeface="Times New Roman" panose="02020603050405020304" pitchFamily="18" charset="0"/>
                <a:cs typeface="Times New Roman" panose="02020603050405020304" pitchFamily="18" charset="0"/>
              </a:rPr>
              <a:t>..</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The variation in salary across roles and locations indicates that both job specialization and geographic location influence compensation levels.</a:t>
            </a:r>
          </a:p>
          <a:p>
            <a:pPr marL="285750" indent="-285750" algn="just">
              <a:buFont typeface="Wingdings" panose="05000000000000000000" pitchFamily="2" charset="2"/>
              <a:buChar char="ü"/>
            </a:pPr>
            <a:endParaRPr lang="en-US" dirty="0">
              <a:solidFill>
                <a:schemeClr val="bg1"/>
              </a:solidFill>
            </a:endParaRPr>
          </a:p>
        </p:txBody>
      </p:sp>
      <p:pic>
        <p:nvPicPr>
          <p:cNvPr id="2" name="Picture 1">
            <a:extLst>
              <a:ext uri="{FF2B5EF4-FFF2-40B4-BE49-F238E27FC236}">
                <a16:creationId xmlns:a16="http://schemas.microsoft.com/office/drawing/2014/main" id="{647999CF-C152-BC9A-0A1D-F98C2BFDCC19}"/>
              </a:ext>
            </a:extLst>
          </p:cNvPr>
          <p:cNvPicPr>
            <a:picLocks noChangeAspect="1"/>
          </p:cNvPicPr>
          <p:nvPr/>
        </p:nvPicPr>
        <p:blipFill>
          <a:blip r:embed="rId3"/>
          <a:stretch>
            <a:fillRect/>
          </a:stretch>
        </p:blipFill>
        <p:spPr>
          <a:xfrm>
            <a:off x="8853815" y="6111588"/>
            <a:ext cx="3338185" cy="723108"/>
          </a:xfrm>
          <a:prstGeom prst="rect">
            <a:avLst/>
          </a:prstGeom>
        </p:spPr>
      </p:pic>
      <p:pic>
        <p:nvPicPr>
          <p:cNvPr id="6" name="Picture 5">
            <a:extLst>
              <a:ext uri="{FF2B5EF4-FFF2-40B4-BE49-F238E27FC236}">
                <a16:creationId xmlns:a16="http://schemas.microsoft.com/office/drawing/2014/main" id="{33650F4F-A93D-3E80-E8A4-31E6FFEA1C45}"/>
              </a:ext>
            </a:extLst>
          </p:cNvPr>
          <p:cNvPicPr>
            <a:picLocks noChangeAspect="1"/>
          </p:cNvPicPr>
          <p:nvPr/>
        </p:nvPicPr>
        <p:blipFill>
          <a:blip r:embed="rId4"/>
          <a:stretch>
            <a:fillRect/>
          </a:stretch>
        </p:blipFill>
        <p:spPr>
          <a:xfrm>
            <a:off x="5504688" y="1290689"/>
            <a:ext cx="6674739" cy="4590066"/>
          </a:xfrm>
          <a:prstGeom prst="rect">
            <a:avLst/>
          </a:prstGeom>
        </p:spPr>
      </p:pic>
    </p:spTree>
    <p:extLst>
      <p:ext uri="{BB962C8B-B14F-4D97-AF65-F5344CB8AC3E}">
        <p14:creationId xmlns:p14="http://schemas.microsoft.com/office/powerpoint/2010/main" val="2803492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109">
          <a:extLst>
            <a:ext uri="{FF2B5EF4-FFF2-40B4-BE49-F238E27FC236}">
              <a16:creationId xmlns:a16="http://schemas.microsoft.com/office/drawing/2014/main" id="{7E763801-BA38-4D60-2B9F-D4AA9BA36A3B}"/>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6BC79176-588C-FEF1-3245-D0E7EE5A477E}"/>
              </a:ext>
            </a:extLst>
          </p:cNvPr>
          <p:cNvSpPr txBox="1">
            <a:spLocks noGrp="1"/>
          </p:cNvSpPr>
          <p:nvPr>
            <p:ph idx="1"/>
          </p:nvPr>
        </p:nvSpPr>
        <p:spPr>
          <a:xfrm>
            <a:off x="0" y="0"/>
            <a:ext cx="12192000" cy="6857999"/>
          </a:xfrm>
          <a:prstGeom prst="rect">
            <a:avLst/>
          </a:prstGeom>
          <a:solidFill>
            <a:schemeClr val="tx1"/>
          </a:solidFill>
          <a:ln>
            <a:noFill/>
          </a:ln>
        </p:spPr>
        <p:txBody>
          <a:bodyPr spcFirstLastPara="1" wrap="square" lIns="91425" tIns="45700" rIns="91425" bIns="45700" anchor="t" anchorCtr="0">
            <a:normAutofit/>
          </a:bodyPr>
          <a:lstStyle/>
          <a:p>
            <a:r>
              <a:rPr lang="en-US" dirty="0"/>
              <a:t>Observation: Density Plot of Doctor Experience</a:t>
            </a:r>
          </a:p>
          <a:p>
            <a:r>
              <a:rPr lang="en-US" dirty="0"/>
              <a:t>The distribution of </a:t>
            </a:r>
            <a:r>
              <a:rPr lang="en-US" b="1" dirty="0"/>
              <a:t>doctor experience</a:t>
            </a:r>
            <a:r>
              <a:rPr lang="en-US" dirty="0"/>
              <a:t> appears </a:t>
            </a:r>
            <a:r>
              <a:rPr lang="en-US" b="1" dirty="0"/>
              <a:t>right-skewed (positively skewed)</a:t>
            </a:r>
            <a:r>
              <a:rPr lang="en-US" dirty="0"/>
              <a:t>.</a:t>
            </a:r>
          </a:p>
        </p:txBody>
      </p:sp>
      <p:sp>
        <p:nvSpPr>
          <p:cNvPr id="4" name="TextBox 3">
            <a:extLst>
              <a:ext uri="{FF2B5EF4-FFF2-40B4-BE49-F238E27FC236}">
                <a16:creationId xmlns:a16="http://schemas.microsoft.com/office/drawing/2014/main" id="{084FD346-9707-81E7-9469-0DE3154C6135}"/>
              </a:ext>
            </a:extLst>
          </p:cNvPr>
          <p:cNvSpPr txBox="1"/>
          <p:nvPr/>
        </p:nvSpPr>
        <p:spPr>
          <a:xfrm>
            <a:off x="557751" y="153893"/>
            <a:ext cx="11076495" cy="1200329"/>
          </a:xfrm>
          <a:prstGeom prst="rect">
            <a:avLst/>
          </a:prstGeom>
          <a:noFill/>
        </p:spPr>
        <p:txBody>
          <a:bodyPr wrap="square" rtlCol="0">
            <a:spAutoFit/>
          </a:bodyPr>
          <a:lstStyle/>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7CCD1A7-82DC-DD9B-3ED2-EBC3BB42BB8C}"/>
              </a:ext>
            </a:extLst>
          </p:cNvPr>
          <p:cNvSpPr txBox="1"/>
          <p:nvPr/>
        </p:nvSpPr>
        <p:spPr>
          <a:xfrm>
            <a:off x="810704" y="153893"/>
            <a:ext cx="10558021" cy="461665"/>
          </a:xfrm>
          <a:prstGeom prst="rect">
            <a:avLst/>
          </a:prstGeom>
          <a:noFill/>
        </p:spPr>
        <p:txBody>
          <a:bodyPr wrap="square">
            <a:spAutoFit/>
          </a:bodyPr>
          <a:lstStyle/>
          <a:p>
            <a:pPr algn="ctr"/>
            <a:r>
              <a:rPr lang="en-US" sz="2400" b="1" dirty="0">
                <a:solidFill>
                  <a:srgbClr val="FFFF00"/>
                </a:solidFill>
                <a:latin typeface="Times New Roman" panose="02020603050405020304" pitchFamily="18" charset="0"/>
                <a:cs typeface="Times New Roman" panose="02020603050405020304" pitchFamily="18" charset="0"/>
              </a:rPr>
              <a:t>Correlation Heatmap of Numerical Features</a:t>
            </a:r>
          </a:p>
        </p:txBody>
      </p:sp>
      <p:sp>
        <p:nvSpPr>
          <p:cNvPr id="9" name="TextBox 8">
            <a:extLst>
              <a:ext uri="{FF2B5EF4-FFF2-40B4-BE49-F238E27FC236}">
                <a16:creationId xmlns:a16="http://schemas.microsoft.com/office/drawing/2014/main" id="{8E6AC432-BAD2-3B0E-AF4E-0616E99A8FE6}"/>
              </a:ext>
            </a:extLst>
          </p:cNvPr>
          <p:cNvSpPr txBox="1"/>
          <p:nvPr/>
        </p:nvSpPr>
        <p:spPr>
          <a:xfrm>
            <a:off x="311083" y="769451"/>
            <a:ext cx="5714219" cy="5355312"/>
          </a:xfrm>
          <a:prstGeom prst="rect">
            <a:avLst/>
          </a:prstGeom>
          <a:noFill/>
        </p:spPr>
        <p:txBody>
          <a:bodyPr wrap="square" rtlCol="0">
            <a:spAutoFit/>
          </a:bodyPr>
          <a:lstStyle/>
          <a:p>
            <a:pPr marL="342900" indent="-342900" algn="just">
              <a:buFont typeface="Wingdings" panose="05000000000000000000" pitchFamily="2" charset="2"/>
              <a:buChar char="ü"/>
            </a:pPr>
            <a:endParaRPr lang="en-US" b="1" dirty="0">
              <a:solidFill>
                <a:srgbClr val="FFFF00"/>
              </a:solidFill>
              <a:latin typeface="Times New Roman" panose="02020603050405020304" pitchFamily="18" charset="0"/>
              <a:cs typeface="Times New Roman" panose="02020603050405020304" pitchFamily="18" charset="0"/>
            </a:endParaRPr>
          </a:p>
          <a:p>
            <a:pPr algn="just"/>
            <a:r>
              <a:rPr lang="en-US" b="1" dirty="0">
                <a:solidFill>
                  <a:srgbClr val="FFFF00"/>
                </a:solidFill>
                <a:latin typeface="Times New Roman" panose="02020603050405020304" pitchFamily="18" charset="0"/>
                <a:cs typeface="Times New Roman" panose="02020603050405020304" pitchFamily="18" charset="0"/>
              </a:rPr>
              <a:t>Observation and Insights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The heatmap shows the correlation between numerical features, including Salary, Minimum Experience, and Maximum Experience.</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There is a moderate positive correlation between experience and salary, indicating that professionals with higher experience generally earn higher salaries.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The strong correlation between </a:t>
            </a:r>
            <a:r>
              <a:rPr lang="en-US" dirty="0" err="1">
                <a:solidFill>
                  <a:schemeClr val="bg1"/>
                </a:solidFill>
                <a:latin typeface="Times New Roman" panose="02020603050405020304" pitchFamily="18" charset="0"/>
                <a:cs typeface="Times New Roman" panose="02020603050405020304" pitchFamily="18" charset="0"/>
              </a:rPr>
              <a:t>Min_Exp</a:t>
            </a:r>
            <a:r>
              <a:rPr lang="en-US" dirty="0">
                <a:solidFill>
                  <a:schemeClr val="bg1"/>
                </a:solidFill>
                <a:latin typeface="Times New Roman" panose="02020603050405020304" pitchFamily="18" charset="0"/>
                <a:cs typeface="Times New Roman" panose="02020603050405020304" pitchFamily="18" charset="0"/>
              </a:rPr>
              <a:t> and </a:t>
            </a:r>
            <a:r>
              <a:rPr lang="en-US" dirty="0" err="1">
                <a:solidFill>
                  <a:schemeClr val="bg1"/>
                </a:solidFill>
                <a:latin typeface="Times New Roman" panose="02020603050405020304" pitchFamily="18" charset="0"/>
                <a:cs typeface="Times New Roman" panose="02020603050405020304" pitchFamily="18" charset="0"/>
              </a:rPr>
              <a:t>Max_Exp</a:t>
            </a:r>
            <a:r>
              <a:rPr lang="en-US" dirty="0">
                <a:solidFill>
                  <a:schemeClr val="bg1"/>
                </a:solidFill>
                <a:latin typeface="Times New Roman" panose="02020603050405020304" pitchFamily="18" charset="0"/>
                <a:cs typeface="Times New Roman" panose="02020603050405020304" pitchFamily="18" charset="0"/>
              </a:rPr>
              <a:t> is expected, as both represent experience range requirements in job listings.</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Overall, the heatmap indicates that experience is an important factor influencing salary levels in the IT job market.</a:t>
            </a:r>
          </a:p>
          <a:p>
            <a:pPr marL="285750" indent="-285750" algn="just">
              <a:buFont typeface="Wingdings" panose="05000000000000000000" pitchFamily="2" charset="2"/>
              <a:buChar char="ü"/>
            </a:pPr>
            <a:endParaRPr lang="en-US" dirty="0">
              <a:solidFill>
                <a:schemeClr val="bg1"/>
              </a:solidFill>
            </a:endParaRPr>
          </a:p>
        </p:txBody>
      </p:sp>
      <p:pic>
        <p:nvPicPr>
          <p:cNvPr id="2" name="Picture 1">
            <a:extLst>
              <a:ext uri="{FF2B5EF4-FFF2-40B4-BE49-F238E27FC236}">
                <a16:creationId xmlns:a16="http://schemas.microsoft.com/office/drawing/2014/main" id="{937CF7B8-11E5-E233-0BBB-43F3210F56F9}"/>
              </a:ext>
            </a:extLst>
          </p:cNvPr>
          <p:cNvPicPr>
            <a:picLocks noChangeAspect="1"/>
          </p:cNvPicPr>
          <p:nvPr/>
        </p:nvPicPr>
        <p:blipFill>
          <a:blip r:embed="rId3"/>
          <a:stretch>
            <a:fillRect/>
          </a:stretch>
        </p:blipFill>
        <p:spPr>
          <a:xfrm>
            <a:off x="8853815" y="6111588"/>
            <a:ext cx="3338185" cy="723108"/>
          </a:xfrm>
          <a:prstGeom prst="rect">
            <a:avLst/>
          </a:prstGeom>
        </p:spPr>
      </p:pic>
      <p:pic>
        <p:nvPicPr>
          <p:cNvPr id="7" name="Picture 6">
            <a:extLst>
              <a:ext uri="{FF2B5EF4-FFF2-40B4-BE49-F238E27FC236}">
                <a16:creationId xmlns:a16="http://schemas.microsoft.com/office/drawing/2014/main" id="{D47A8AE8-AF22-2A77-D2FC-ADBCE0B626EB}"/>
              </a:ext>
            </a:extLst>
          </p:cNvPr>
          <p:cNvPicPr>
            <a:picLocks noChangeAspect="1"/>
          </p:cNvPicPr>
          <p:nvPr/>
        </p:nvPicPr>
        <p:blipFill>
          <a:blip r:embed="rId4"/>
          <a:stretch>
            <a:fillRect/>
          </a:stretch>
        </p:blipFill>
        <p:spPr>
          <a:xfrm>
            <a:off x="6166699" y="1261759"/>
            <a:ext cx="5887272" cy="4334480"/>
          </a:xfrm>
          <a:prstGeom prst="rect">
            <a:avLst/>
          </a:prstGeom>
        </p:spPr>
      </p:pic>
    </p:spTree>
    <p:extLst>
      <p:ext uri="{BB962C8B-B14F-4D97-AF65-F5344CB8AC3E}">
        <p14:creationId xmlns:p14="http://schemas.microsoft.com/office/powerpoint/2010/main" val="1268002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blipFill>
          <a:blip r:embed="rId3"/>
          <a:tile tx="0" ty="0" sx="100000" sy="100000" flip="none" algn="tl"/>
        </a:blipFill>
        <a:effectLst/>
      </p:bgPr>
    </p:bg>
    <p:spTree>
      <p:nvGrpSpPr>
        <p:cNvPr id="1" name="Shape 109">
          <a:extLst>
            <a:ext uri="{FF2B5EF4-FFF2-40B4-BE49-F238E27FC236}">
              <a16:creationId xmlns:a16="http://schemas.microsoft.com/office/drawing/2014/main" id="{F708CC4A-18D1-DD86-EF36-F711E219374E}"/>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1EF0CE60-F9B3-8CA3-ED22-E256F273AC98}"/>
              </a:ext>
            </a:extLst>
          </p:cNvPr>
          <p:cNvSpPr txBox="1">
            <a:spLocks noGrp="1"/>
          </p:cNvSpPr>
          <p:nvPr>
            <p:ph idx="1"/>
          </p:nvPr>
        </p:nvSpPr>
        <p:spPr>
          <a:xfrm>
            <a:off x="0" y="0"/>
            <a:ext cx="12192000" cy="6857999"/>
          </a:xfrm>
          <a:prstGeom prst="rect">
            <a:avLst/>
          </a:prstGeom>
          <a:solidFill>
            <a:schemeClr val="tx1"/>
          </a:solidFill>
          <a:ln>
            <a:noFill/>
          </a:ln>
        </p:spPr>
        <p:txBody>
          <a:bodyPr spcFirstLastPara="1" wrap="square" lIns="91425" tIns="45700" rIns="91425" bIns="45700" anchor="t" anchorCtr="0">
            <a:normAutofit/>
          </a:bodyPr>
          <a:lstStyle/>
          <a:p>
            <a:r>
              <a:rPr lang="en-US" dirty="0"/>
              <a:t>Observation: Density Plot of Doctor Experience</a:t>
            </a:r>
          </a:p>
          <a:p>
            <a:r>
              <a:rPr lang="en-US" dirty="0"/>
              <a:t>The distribution of </a:t>
            </a:r>
            <a:r>
              <a:rPr lang="en-US" b="1" dirty="0"/>
              <a:t>doctor experience</a:t>
            </a:r>
            <a:r>
              <a:rPr lang="en-US" dirty="0"/>
              <a:t> appears </a:t>
            </a:r>
            <a:r>
              <a:rPr lang="en-US" b="1" dirty="0"/>
              <a:t>right-skewed (positively skewed)</a:t>
            </a:r>
            <a:r>
              <a:rPr lang="en-US" dirty="0"/>
              <a:t>.</a:t>
            </a:r>
          </a:p>
        </p:txBody>
      </p:sp>
      <p:sp>
        <p:nvSpPr>
          <p:cNvPr id="4" name="TextBox 3">
            <a:extLst>
              <a:ext uri="{FF2B5EF4-FFF2-40B4-BE49-F238E27FC236}">
                <a16:creationId xmlns:a16="http://schemas.microsoft.com/office/drawing/2014/main" id="{63EA7D40-4FE8-4964-B3FE-9220DDA0440A}"/>
              </a:ext>
            </a:extLst>
          </p:cNvPr>
          <p:cNvSpPr txBox="1"/>
          <p:nvPr/>
        </p:nvSpPr>
        <p:spPr>
          <a:xfrm>
            <a:off x="557751" y="153893"/>
            <a:ext cx="11076495" cy="1200329"/>
          </a:xfrm>
          <a:prstGeom prst="rect">
            <a:avLst/>
          </a:prstGeom>
          <a:noFill/>
        </p:spPr>
        <p:txBody>
          <a:bodyPr wrap="square" rtlCol="0">
            <a:spAutoFit/>
          </a:bodyPr>
          <a:lstStyle/>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B9C70C3-5C81-F0AB-03E6-6B98DD04BB69}"/>
              </a:ext>
            </a:extLst>
          </p:cNvPr>
          <p:cNvSpPr txBox="1"/>
          <p:nvPr/>
        </p:nvSpPr>
        <p:spPr>
          <a:xfrm>
            <a:off x="810704" y="153893"/>
            <a:ext cx="10558021" cy="461665"/>
          </a:xfrm>
          <a:prstGeom prst="rect">
            <a:avLst/>
          </a:prstGeom>
          <a:noFill/>
        </p:spPr>
        <p:txBody>
          <a:bodyPr wrap="square">
            <a:spAutoFit/>
          </a:bodyPr>
          <a:lstStyle/>
          <a:p>
            <a:pPr algn="ctr"/>
            <a:r>
              <a:rPr lang="en-US" sz="2400" b="1" dirty="0">
                <a:solidFill>
                  <a:srgbClr val="FFFF00"/>
                </a:solidFill>
                <a:latin typeface="Times New Roman" panose="02020603050405020304" pitchFamily="18" charset="0"/>
                <a:cs typeface="Times New Roman" panose="02020603050405020304" pitchFamily="18" charset="0"/>
              </a:rPr>
              <a:t>Top Skills In Demand</a:t>
            </a:r>
          </a:p>
        </p:txBody>
      </p:sp>
      <p:sp>
        <p:nvSpPr>
          <p:cNvPr id="9" name="TextBox 8">
            <a:extLst>
              <a:ext uri="{FF2B5EF4-FFF2-40B4-BE49-F238E27FC236}">
                <a16:creationId xmlns:a16="http://schemas.microsoft.com/office/drawing/2014/main" id="{0611B10F-EC8B-F2A6-406F-8B4D98DB1CCE}"/>
              </a:ext>
            </a:extLst>
          </p:cNvPr>
          <p:cNvSpPr txBox="1"/>
          <p:nvPr/>
        </p:nvSpPr>
        <p:spPr>
          <a:xfrm>
            <a:off x="170934" y="751343"/>
            <a:ext cx="5747847" cy="5078313"/>
          </a:xfrm>
          <a:prstGeom prst="rect">
            <a:avLst/>
          </a:prstGeom>
          <a:noFill/>
        </p:spPr>
        <p:txBody>
          <a:bodyPr wrap="square" rtlCol="0">
            <a:spAutoFit/>
          </a:bodyPr>
          <a:lstStyle/>
          <a:p>
            <a:pPr algn="just"/>
            <a:endParaRPr lang="en-US" dirty="0">
              <a:solidFill>
                <a:srgbClr val="FFFF00"/>
              </a:solidFill>
              <a:latin typeface="Times New Roman" panose="02020603050405020304" pitchFamily="18" charset="0"/>
              <a:cs typeface="Times New Roman" panose="02020603050405020304" pitchFamily="18" charset="0"/>
            </a:endParaRPr>
          </a:p>
          <a:p>
            <a:pPr algn="just"/>
            <a:r>
              <a:rPr lang="en-US" b="1" dirty="0">
                <a:solidFill>
                  <a:srgbClr val="FFFF00"/>
                </a:solidFill>
                <a:latin typeface="Times New Roman" panose="02020603050405020304" pitchFamily="18" charset="0"/>
                <a:cs typeface="Times New Roman" panose="02020603050405020304" pitchFamily="18" charset="0"/>
              </a:rPr>
              <a:t>Observation and Insights</a:t>
            </a:r>
          </a:p>
          <a:p>
            <a:pPr algn="just"/>
            <a:endParaRPr lang="en-US" dirty="0">
              <a:solidFill>
                <a:schemeClr val="bg1"/>
              </a:solidFill>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The pivot table highlights the job roles with the highest salary values in the dataset.</a:t>
            </a:r>
          </a:p>
          <a:p>
            <a:pPr marL="285750" indent="-285750" algn="just">
              <a:buFont typeface="Wingdings" panose="05000000000000000000" pitchFamily="2" charset="2"/>
              <a:buChar char="ü"/>
            </a:pPr>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Senior-level roles such as Senior Product Manager, Principal Software Engineer, and Senior Software Development Engineer appear among the highest paying positions.</a:t>
            </a:r>
          </a:p>
          <a:p>
            <a:pPr marL="285750" indent="-285750" algn="just">
              <a:buFont typeface="Wingdings" panose="05000000000000000000" pitchFamily="2" charset="2"/>
              <a:buChar char="ü"/>
            </a:pPr>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These roles typically require higher experience levels and specialized technical skills, which contribute to higher compensation.</a:t>
            </a:r>
          </a:p>
          <a:p>
            <a:pPr marL="285750" indent="-285750" algn="just">
              <a:buFont typeface="Wingdings" panose="05000000000000000000" pitchFamily="2" charset="2"/>
              <a:buChar char="ü"/>
            </a:pPr>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dirty="0">
                <a:solidFill>
                  <a:schemeClr val="bg1"/>
                </a:solidFill>
                <a:latin typeface="Times New Roman" panose="02020603050405020304" pitchFamily="18" charset="0"/>
                <a:cs typeface="Times New Roman" panose="02020603050405020304" pitchFamily="18" charset="0"/>
              </a:rPr>
              <a:t>The analysis indicates that leadership and advanced technical roles tend to offer the highest salary packages in the IT job market.</a:t>
            </a:r>
          </a:p>
        </p:txBody>
      </p:sp>
      <p:pic>
        <p:nvPicPr>
          <p:cNvPr id="2" name="Picture 1">
            <a:extLst>
              <a:ext uri="{FF2B5EF4-FFF2-40B4-BE49-F238E27FC236}">
                <a16:creationId xmlns:a16="http://schemas.microsoft.com/office/drawing/2014/main" id="{11BE0B4F-2665-7E96-F8FA-7372470D5A5F}"/>
              </a:ext>
            </a:extLst>
          </p:cNvPr>
          <p:cNvPicPr>
            <a:picLocks noChangeAspect="1"/>
          </p:cNvPicPr>
          <p:nvPr/>
        </p:nvPicPr>
        <p:blipFill>
          <a:blip r:embed="rId4"/>
          <a:stretch>
            <a:fillRect/>
          </a:stretch>
        </p:blipFill>
        <p:spPr>
          <a:xfrm>
            <a:off x="8853815" y="6111588"/>
            <a:ext cx="3338185" cy="723108"/>
          </a:xfrm>
          <a:prstGeom prst="rect">
            <a:avLst/>
          </a:prstGeom>
        </p:spPr>
      </p:pic>
      <p:pic>
        <p:nvPicPr>
          <p:cNvPr id="6" name="Picture 5">
            <a:extLst>
              <a:ext uri="{FF2B5EF4-FFF2-40B4-BE49-F238E27FC236}">
                <a16:creationId xmlns:a16="http://schemas.microsoft.com/office/drawing/2014/main" id="{B8B6D0BA-41FA-CF37-3B6F-DCA336C7A0E6}"/>
              </a:ext>
            </a:extLst>
          </p:cNvPr>
          <p:cNvPicPr>
            <a:picLocks noChangeAspect="1"/>
          </p:cNvPicPr>
          <p:nvPr/>
        </p:nvPicPr>
        <p:blipFill>
          <a:blip r:embed="rId5"/>
          <a:stretch>
            <a:fillRect/>
          </a:stretch>
        </p:blipFill>
        <p:spPr>
          <a:xfrm>
            <a:off x="6019639" y="1354222"/>
            <a:ext cx="6071502" cy="3620005"/>
          </a:xfrm>
          <a:prstGeom prst="rect">
            <a:avLst/>
          </a:prstGeom>
        </p:spPr>
      </p:pic>
    </p:spTree>
    <p:extLst>
      <p:ext uri="{BB962C8B-B14F-4D97-AF65-F5344CB8AC3E}">
        <p14:creationId xmlns:p14="http://schemas.microsoft.com/office/powerpoint/2010/main" val="3109468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2"/>
          <p:cNvSpPr/>
          <p:nvPr/>
        </p:nvSpPr>
        <p:spPr>
          <a:xfrm>
            <a:off x="512064" y="341376"/>
            <a:ext cx="10972800" cy="731520"/>
          </a:xfrm>
          <a:prstGeom prst="rect">
            <a:avLst/>
          </a:prstGeom>
          <a:noFill/>
          <a:ln/>
        </p:spPr>
        <p:txBody>
          <a:bodyPr wrap="square" rtlCol="0" anchor="ctr"/>
          <a:lstStyle/>
          <a:p>
            <a:pPr algn="ctr"/>
            <a:r>
              <a:rPr lang="en-US" sz="3733" b="1" dirty="0">
                <a:solidFill>
                  <a:schemeClr val="accent2">
                    <a:lumMod val="75000"/>
                  </a:schemeClr>
                </a:solidFill>
                <a:latin typeface="Calibri" pitchFamily="34" charset="0"/>
                <a:ea typeface="Calibri" pitchFamily="34" charset="-122"/>
                <a:cs typeface="Calibri" pitchFamily="34" charset="-120"/>
              </a:rPr>
              <a:t>Conclusions</a:t>
            </a:r>
            <a:endParaRPr lang="en-US" sz="3733" dirty="0">
              <a:solidFill>
                <a:schemeClr val="accent2">
                  <a:lumMod val="75000"/>
                </a:schemeClr>
              </a:solidFill>
            </a:endParaRPr>
          </a:p>
        </p:txBody>
      </p:sp>
      <p:sp>
        <p:nvSpPr>
          <p:cNvPr id="6" name="Shape 4"/>
          <p:cNvSpPr/>
          <p:nvPr/>
        </p:nvSpPr>
        <p:spPr>
          <a:xfrm>
            <a:off x="376758" y="1438656"/>
            <a:ext cx="3657600" cy="2011680"/>
          </a:xfrm>
          <a:prstGeom prst="rect">
            <a:avLst/>
          </a:prstGeom>
          <a:solidFill>
            <a:srgbClr val="0A1A2E"/>
          </a:solidFill>
          <a:ln w="12700">
            <a:solidFill>
              <a:srgbClr val="1E3A55"/>
            </a:solidFill>
            <a:prstDash val="solid"/>
          </a:ln>
        </p:spPr>
        <p:txBody>
          <a:bodyPr/>
          <a:lstStyle/>
          <a:p>
            <a:endParaRPr lang="en-IN" dirty="0"/>
          </a:p>
        </p:txBody>
      </p:sp>
      <p:sp>
        <p:nvSpPr>
          <p:cNvPr id="7" name="Text 5"/>
          <p:cNvSpPr/>
          <p:nvPr/>
        </p:nvSpPr>
        <p:spPr>
          <a:xfrm>
            <a:off x="645297" y="1610868"/>
            <a:ext cx="457326" cy="345948"/>
          </a:xfrm>
          <a:prstGeom prst="rect">
            <a:avLst/>
          </a:prstGeom>
          <a:noFill/>
          <a:ln/>
        </p:spPr>
        <p:txBody>
          <a:bodyPr wrap="square" rtlCol="0" anchor="ctr"/>
          <a:lstStyle/>
          <a:p>
            <a:r>
              <a:rPr lang="en-US" sz="2400" dirty="0"/>
              <a:t>💻</a:t>
            </a:r>
          </a:p>
        </p:txBody>
      </p:sp>
      <p:sp>
        <p:nvSpPr>
          <p:cNvPr id="8" name="Text 6"/>
          <p:cNvSpPr/>
          <p:nvPr/>
        </p:nvSpPr>
        <p:spPr>
          <a:xfrm>
            <a:off x="1171344" y="1638300"/>
            <a:ext cx="3091080" cy="283464"/>
          </a:xfrm>
          <a:prstGeom prst="rect">
            <a:avLst/>
          </a:prstGeom>
          <a:noFill/>
          <a:ln/>
        </p:spPr>
        <p:txBody>
          <a:bodyPr wrap="square" rtlCol="0" anchor="ctr"/>
          <a:lstStyle/>
          <a:p>
            <a:r>
              <a:rPr lang="en-US" sz="1730" b="1" dirty="0">
                <a:solidFill>
                  <a:schemeClr val="accent3"/>
                </a:solidFill>
              </a:rPr>
              <a:t>Development Demand</a:t>
            </a:r>
            <a:endParaRPr lang="en-US" sz="1730" b="1" dirty="0">
              <a:solidFill>
                <a:schemeClr val="accent3"/>
              </a:solidFill>
              <a:latin typeface="Calibri" panose="020F0502020204030204" pitchFamily="34" charset="0"/>
              <a:ea typeface="Calibri" panose="020F0502020204030204" pitchFamily="34" charset="0"/>
              <a:cs typeface="Calibri" panose="020F0502020204030204" pitchFamily="34" charset="0"/>
            </a:endParaRPr>
          </a:p>
        </p:txBody>
      </p:sp>
      <p:sp>
        <p:nvSpPr>
          <p:cNvPr id="9" name="Text 7"/>
          <p:cNvSpPr/>
          <p:nvPr/>
        </p:nvSpPr>
        <p:spPr>
          <a:xfrm>
            <a:off x="673404" y="2310384"/>
            <a:ext cx="3091080" cy="810768"/>
          </a:xfrm>
          <a:prstGeom prst="rect">
            <a:avLst/>
          </a:prstGeom>
          <a:noFill/>
          <a:ln/>
        </p:spPr>
        <p:txBody>
          <a:bodyPr wrap="square" rtlCol="0" anchor="ctr"/>
          <a:lstStyle/>
          <a:p>
            <a:pPr algn="just"/>
            <a:r>
              <a:rPr lang="en-US" sz="1470" dirty="0">
                <a:solidFill>
                  <a:schemeClr val="bg2"/>
                </a:solidFill>
                <a:latin typeface="+mj-lt"/>
              </a:rPr>
              <a:t>Software development roles such as </a:t>
            </a:r>
            <a:r>
              <a:rPr lang="en-US" sz="1470" b="1" dirty="0">
                <a:solidFill>
                  <a:schemeClr val="bg2"/>
                </a:solidFill>
                <a:latin typeface="+mj-lt"/>
              </a:rPr>
              <a:t>Application Developer, Java Developer, and Full Stack Developer</a:t>
            </a:r>
            <a:r>
              <a:rPr lang="en-US" sz="1470" dirty="0">
                <a:solidFill>
                  <a:schemeClr val="bg2"/>
                </a:solidFill>
                <a:latin typeface="+mj-lt"/>
              </a:rPr>
              <a:t> dominate the job market, indicating strong demand for programming expertise.</a:t>
            </a:r>
          </a:p>
        </p:txBody>
      </p:sp>
      <p:sp>
        <p:nvSpPr>
          <p:cNvPr id="10" name="Shape 8"/>
          <p:cNvSpPr/>
          <p:nvPr/>
        </p:nvSpPr>
        <p:spPr>
          <a:xfrm>
            <a:off x="4262424" y="1456944"/>
            <a:ext cx="3657600" cy="2011680"/>
          </a:xfrm>
          <a:prstGeom prst="rect">
            <a:avLst/>
          </a:prstGeom>
          <a:solidFill>
            <a:srgbClr val="0A1A2E"/>
          </a:solidFill>
          <a:ln w="12700">
            <a:solidFill>
              <a:srgbClr val="1E3A55"/>
            </a:solidFill>
            <a:prstDash val="solid"/>
          </a:ln>
        </p:spPr>
        <p:txBody>
          <a:bodyPr/>
          <a:lstStyle/>
          <a:p>
            <a:endParaRPr lang="en-US"/>
          </a:p>
        </p:txBody>
      </p:sp>
      <p:sp>
        <p:nvSpPr>
          <p:cNvPr id="11" name="Text 9"/>
          <p:cNvSpPr/>
          <p:nvPr/>
        </p:nvSpPr>
        <p:spPr>
          <a:xfrm>
            <a:off x="4525149" y="1775460"/>
            <a:ext cx="296190" cy="82296"/>
          </a:xfrm>
          <a:prstGeom prst="rect">
            <a:avLst/>
          </a:prstGeom>
          <a:noFill/>
          <a:ln/>
        </p:spPr>
        <p:txBody>
          <a:bodyPr wrap="square" rtlCol="0" anchor="ctr"/>
          <a:lstStyle/>
          <a:p>
            <a:r>
              <a:rPr lang="en-US" sz="2400" dirty="0"/>
              <a:t>📈</a:t>
            </a:r>
          </a:p>
        </p:txBody>
      </p:sp>
      <p:sp>
        <p:nvSpPr>
          <p:cNvPr id="12" name="Text 10"/>
          <p:cNvSpPr/>
          <p:nvPr/>
        </p:nvSpPr>
        <p:spPr>
          <a:xfrm>
            <a:off x="5084064" y="1584960"/>
            <a:ext cx="2743200" cy="463296"/>
          </a:xfrm>
          <a:prstGeom prst="rect">
            <a:avLst/>
          </a:prstGeom>
          <a:noFill/>
          <a:ln/>
        </p:spPr>
        <p:txBody>
          <a:bodyPr wrap="square" rtlCol="0" anchor="ctr"/>
          <a:lstStyle/>
          <a:p>
            <a:r>
              <a:rPr lang="en-US" sz="1730" b="1" dirty="0">
                <a:solidFill>
                  <a:schemeClr val="accent3"/>
                </a:solidFill>
              </a:rPr>
              <a:t>Salary Growth</a:t>
            </a:r>
          </a:p>
        </p:txBody>
      </p:sp>
      <p:sp>
        <p:nvSpPr>
          <p:cNvPr id="13" name="Text 11"/>
          <p:cNvSpPr/>
          <p:nvPr/>
        </p:nvSpPr>
        <p:spPr>
          <a:xfrm>
            <a:off x="4437888" y="2100072"/>
            <a:ext cx="3413760" cy="1121664"/>
          </a:xfrm>
          <a:prstGeom prst="rect">
            <a:avLst/>
          </a:prstGeom>
          <a:noFill/>
          <a:ln/>
        </p:spPr>
        <p:txBody>
          <a:bodyPr wrap="square" rtlCol="0" anchor="ctr"/>
          <a:lstStyle/>
          <a:p>
            <a:pPr algn="just"/>
            <a:r>
              <a:rPr lang="en-US" sz="1470" dirty="0">
                <a:solidFill>
                  <a:schemeClr val="bg1"/>
                </a:solidFill>
                <a:latin typeface="+mj-lt"/>
              </a:rPr>
              <a:t>The analysis shows a </a:t>
            </a:r>
            <a:r>
              <a:rPr lang="en-US" sz="1470" b="1" dirty="0">
                <a:solidFill>
                  <a:schemeClr val="bg1"/>
                </a:solidFill>
                <a:latin typeface="+mj-lt"/>
              </a:rPr>
              <a:t>clear positive relationship between experience and salary</a:t>
            </a:r>
            <a:r>
              <a:rPr lang="en-US" sz="1470" dirty="0">
                <a:solidFill>
                  <a:schemeClr val="bg1"/>
                </a:solidFill>
                <a:latin typeface="+mj-lt"/>
              </a:rPr>
              <a:t>, with senior professionals receiving significantly higher compensation.</a:t>
            </a:r>
          </a:p>
        </p:txBody>
      </p:sp>
      <p:sp>
        <p:nvSpPr>
          <p:cNvPr id="14" name="Shape 12"/>
          <p:cNvSpPr/>
          <p:nvPr/>
        </p:nvSpPr>
        <p:spPr>
          <a:xfrm>
            <a:off x="8241792" y="1458468"/>
            <a:ext cx="3657600" cy="2011680"/>
          </a:xfrm>
          <a:prstGeom prst="rect">
            <a:avLst/>
          </a:prstGeom>
          <a:solidFill>
            <a:srgbClr val="0A1A2E"/>
          </a:solidFill>
          <a:ln w="12700">
            <a:solidFill>
              <a:srgbClr val="1E3A55"/>
            </a:solidFill>
            <a:prstDash val="solid"/>
          </a:ln>
        </p:spPr>
        <p:txBody>
          <a:bodyPr/>
          <a:lstStyle/>
          <a:p>
            <a:endParaRPr lang="en-US"/>
          </a:p>
        </p:txBody>
      </p:sp>
      <p:sp>
        <p:nvSpPr>
          <p:cNvPr id="15" name="Text 13"/>
          <p:cNvSpPr/>
          <p:nvPr/>
        </p:nvSpPr>
        <p:spPr>
          <a:xfrm>
            <a:off x="8544204" y="1595628"/>
            <a:ext cx="609600" cy="609600"/>
          </a:xfrm>
          <a:prstGeom prst="rect">
            <a:avLst/>
          </a:prstGeom>
          <a:noFill/>
          <a:ln/>
        </p:spPr>
        <p:txBody>
          <a:bodyPr wrap="square" rtlCol="0" anchor="ctr"/>
          <a:lstStyle/>
          <a:p>
            <a:r>
              <a:rPr lang="en-US" sz="2400" dirty="0"/>
              <a:t>🌍</a:t>
            </a:r>
          </a:p>
        </p:txBody>
      </p:sp>
      <p:sp>
        <p:nvSpPr>
          <p:cNvPr id="16" name="Text 14"/>
          <p:cNvSpPr/>
          <p:nvPr/>
        </p:nvSpPr>
        <p:spPr>
          <a:xfrm>
            <a:off x="9009888" y="1658112"/>
            <a:ext cx="2743200" cy="463296"/>
          </a:xfrm>
          <a:prstGeom prst="rect">
            <a:avLst/>
          </a:prstGeom>
          <a:noFill/>
          <a:ln/>
        </p:spPr>
        <p:txBody>
          <a:bodyPr wrap="square" rtlCol="0" anchor="ctr"/>
          <a:lstStyle/>
          <a:p>
            <a:r>
              <a:rPr lang="en-US" sz="1730" b="1" dirty="0">
                <a:solidFill>
                  <a:schemeClr val="accent3"/>
                </a:solidFill>
                <a:ea typeface="Calibri" panose="020F0502020204030204" pitchFamily="34" charset="0"/>
                <a:cs typeface="Calibri" panose="020F0502020204030204" pitchFamily="34" charset="0"/>
              </a:rPr>
              <a:t>IT Hubs</a:t>
            </a:r>
          </a:p>
        </p:txBody>
      </p:sp>
      <p:sp>
        <p:nvSpPr>
          <p:cNvPr id="17" name="Text 15"/>
          <p:cNvSpPr/>
          <p:nvPr/>
        </p:nvSpPr>
        <p:spPr>
          <a:xfrm>
            <a:off x="8363712" y="2170176"/>
            <a:ext cx="3413760" cy="1121664"/>
          </a:xfrm>
          <a:prstGeom prst="rect">
            <a:avLst/>
          </a:prstGeom>
          <a:noFill/>
          <a:ln/>
        </p:spPr>
        <p:txBody>
          <a:bodyPr wrap="square" rtlCol="0" anchor="ctr"/>
          <a:lstStyle/>
          <a:p>
            <a:pPr algn="just"/>
            <a:r>
              <a:rPr lang="en-US" sz="1470" dirty="0">
                <a:solidFill>
                  <a:schemeClr val="bg1"/>
                </a:solidFill>
                <a:latin typeface="+mj-lt"/>
              </a:rPr>
              <a:t>Cities such as </a:t>
            </a:r>
            <a:r>
              <a:rPr lang="en-US" sz="1470" b="1" dirty="0">
                <a:solidFill>
                  <a:schemeClr val="bg1"/>
                </a:solidFill>
                <a:latin typeface="+mj-lt"/>
              </a:rPr>
              <a:t>Bangalore, Hyderabad, Pune, and Mumbai</a:t>
            </a:r>
            <a:r>
              <a:rPr lang="en-US" sz="1470" dirty="0">
                <a:solidFill>
                  <a:schemeClr val="bg1"/>
                </a:solidFill>
                <a:latin typeface="+mj-lt"/>
              </a:rPr>
              <a:t> offer the highest number of job opportunities due to their strong IT ecosystems.</a:t>
            </a:r>
          </a:p>
        </p:txBody>
      </p:sp>
      <p:sp>
        <p:nvSpPr>
          <p:cNvPr id="18" name="Shape 16"/>
          <p:cNvSpPr/>
          <p:nvPr/>
        </p:nvSpPr>
        <p:spPr>
          <a:xfrm>
            <a:off x="2205558" y="3692652"/>
            <a:ext cx="3657600" cy="2011680"/>
          </a:xfrm>
          <a:prstGeom prst="rect">
            <a:avLst/>
          </a:prstGeom>
          <a:solidFill>
            <a:srgbClr val="0A1A2E"/>
          </a:solidFill>
          <a:ln w="12700">
            <a:solidFill>
              <a:srgbClr val="1E3A55"/>
            </a:solidFill>
            <a:prstDash val="solid"/>
          </a:ln>
        </p:spPr>
        <p:txBody>
          <a:bodyPr/>
          <a:lstStyle/>
          <a:p>
            <a:endParaRPr lang="en-US"/>
          </a:p>
        </p:txBody>
      </p:sp>
      <p:sp>
        <p:nvSpPr>
          <p:cNvPr id="19" name="Text 17"/>
          <p:cNvSpPr/>
          <p:nvPr/>
        </p:nvSpPr>
        <p:spPr>
          <a:xfrm>
            <a:off x="2846834" y="3760470"/>
            <a:ext cx="609600" cy="609600"/>
          </a:xfrm>
          <a:prstGeom prst="rect">
            <a:avLst/>
          </a:prstGeom>
          <a:noFill/>
          <a:ln/>
        </p:spPr>
        <p:txBody>
          <a:bodyPr wrap="square" rtlCol="0" anchor="ctr"/>
          <a:lstStyle/>
          <a:p>
            <a:r>
              <a:rPr lang="en-US" sz="2400" dirty="0"/>
              <a:t>🧠</a:t>
            </a:r>
          </a:p>
        </p:txBody>
      </p:sp>
      <p:sp>
        <p:nvSpPr>
          <p:cNvPr id="20" name="Text 18"/>
          <p:cNvSpPr/>
          <p:nvPr/>
        </p:nvSpPr>
        <p:spPr>
          <a:xfrm>
            <a:off x="3341016" y="3833622"/>
            <a:ext cx="2743200" cy="463296"/>
          </a:xfrm>
          <a:prstGeom prst="rect">
            <a:avLst/>
          </a:prstGeom>
          <a:noFill/>
          <a:ln/>
        </p:spPr>
        <p:txBody>
          <a:bodyPr wrap="square" rtlCol="0" anchor="ctr"/>
          <a:lstStyle/>
          <a:p>
            <a:r>
              <a:rPr lang="en-US" sz="1730" b="1" dirty="0">
                <a:solidFill>
                  <a:schemeClr val="accent3"/>
                </a:solidFill>
              </a:rPr>
              <a:t>Skills Demand</a:t>
            </a:r>
          </a:p>
        </p:txBody>
      </p:sp>
      <p:sp>
        <p:nvSpPr>
          <p:cNvPr id="21" name="Text 19"/>
          <p:cNvSpPr/>
          <p:nvPr/>
        </p:nvSpPr>
        <p:spPr>
          <a:xfrm>
            <a:off x="2531097" y="4660138"/>
            <a:ext cx="3006522" cy="820674"/>
          </a:xfrm>
          <a:prstGeom prst="rect">
            <a:avLst/>
          </a:prstGeom>
          <a:noFill/>
          <a:ln/>
        </p:spPr>
        <p:txBody>
          <a:bodyPr wrap="square" rtlCol="0" anchor="ctr"/>
          <a:lstStyle/>
          <a:p>
            <a:pPr algn="just"/>
            <a:r>
              <a:rPr lang="en-US" sz="1470" dirty="0">
                <a:solidFill>
                  <a:schemeClr val="bg1"/>
                </a:solidFill>
                <a:latin typeface="+mj-lt"/>
              </a:rPr>
              <a:t>Skills like </a:t>
            </a:r>
            <a:r>
              <a:rPr lang="en-US" sz="1470" b="1" dirty="0">
                <a:solidFill>
                  <a:schemeClr val="bg1"/>
                </a:solidFill>
                <a:latin typeface="+mj-lt"/>
              </a:rPr>
              <a:t>Python, Java, SQL, and modern development frameworks</a:t>
            </a:r>
            <a:r>
              <a:rPr lang="en-US" sz="1470" dirty="0">
                <a:solidFill>
                  <a:schemeClr val="bg1"/>
                </a:solidFill>
                <a:latin typeface="+mj-lt"/>
              </a:rPr>
              <a:t> appear frequently in job listings, highlighting their importance in the IT industry.</a:t>
            </a:r>
          </a:p>
          <a:p>
            <a:pPr algn="just"/>
            <a:endParaRPr lang="en-US" sz="1470" dirty="0">
              <a:solidFill>
                <a:schemeClr val="bg1"/>
              </a:solidFill>
              <a:latin typeface="+mj-lt"/>
            </a:endParaRPr>
          </a:p>
        </p:txBody>
      </p:sp>
      <p:sp>
        <p:nvSpPr>
          <p:cNvPr id="22" name="Shape 20"/>
          <p:cNvSpPr/>
          <p:nvPr/>
        </p:nvSpPr>
        <p:spPr>
          <a:xfrm>
            <a:off x="6455664" y="3654298"/>
            <a:ext cx="3657600" cy="2011680"/>
          </a:xfrm>
          <a:prstGeom prst="rect">
            <a:avLst/>
          </a:prstGeom>
          <a:solidFill>
            <a:srgbClr val="0A1A2E"/>
          </a:solidFill>
          <a:ln w="12700">
            <a:solidFill>
              <a:srgbClr val="1E3A55"/>
            </a:solidFill>
            <a:prstDash val="solid"/>
          </a:ln>
        </p:spPr>
        <p:txBody>
          <a:bodyPr/>
          <a:lstStyle/>
          <a:p>
            <a:endParaRPr lang="en-US"/>
          </a:p>
        </p:txBody>
      </p:sp>
      <p:sp>
        <p:nvSpPr>
          <p:cNvPr id="23" name="Text 21"/>
          <p:cNvSpPr/>
          <p:nvPr/>
        </p:nvSpPr>
        <p:spPr>
          <a:xfrm>
            <a:off x="7020560" y="3718560"/>
            <a:ext cx="448591" cy="609600"/>
          </a:xfrm>
          <a:prstGeom prst="rect">
            <a:avLst/>
          </a:prstGeom>
          <a:noFill/>
          <a:ln/>
        </p:spPr>
        <p:txBody>
          <a:bodyPr wrap="square" rtlCol="0" anchor="ctr"/>
          <a:lstStyle/>
          <a:p>
            <a:r>
              <a:rPr lang="en-US" sz="2400" dirty="0"/>
              <a:t>💰</a:t>
            </a:r>
          </a:p>
        </p:txBody>
      </p:sp>
      <p:sp>
        <p:nvSpPr>
          <p:cNvPr id="24" name="Text 22"/>
          <p:cNvSpPr/>
          <p:nvPr/>
        </p:nvSpPr>
        <p:spPr>
          <a:xfrm>
            <a:off x="7513116" y="3809238"/>
            <a:ext cx="2743200" cy="463296"/>
          </a:xfrm>
          <a:prstGeom prst="rect">
            <a:avLst/>
          </a:prstGeom>
          <a:noFill/>
          <a:ln/>
        </p:spPr>
        <p:txBody>
          <a:bodyPr wrap="square" rtlCol="0" anchor="ctr"/>
          <a:lstStyle/>
          <a:p>
            <a:r>
              <a:rPr lang="en-US" sz="1730" b="1" dirty="0">
                <a:solidFill>
                  <a:schemeClr val="accent3"/>
                </a:solidFill>
              </a:rPr>
              <a:t>High Paying Roles</a:t>
            </a:r>
          </a:p>
        </p:txBody>
      </p:sp>
      <p:sp>
        <p:nvSpPr>
          <p:cNvPr id="25" name="Text 23"/>
          <p:cNvSpPr/>
          <p:nvPr/>
        </p:nvSpPr>
        <p:spPr>
          <a:xfrm>
            <a:off x="6617030" y="4285836"/>
            <a:ext cx="3453562" cy="1121664"/>
          </a:xfrm>
          <a:prstGeom prst="rect">
            <a:avLst/>
          </a:prstGeom>
          <a:noFill/>
          <a:ln/>
        </p:spPr>
        <p:txBody>
          <a:bodyPr wrap="square" rtlCol="0" anchor="ctr"/>
          <a:lstStyle/>
          <a:p>
            <a:pPr algn="just"/>
            <a:r>
              <a:rPr lang="en-US" sz="1470" b="1" dirty="0">
                <a:solidFill>
                  <a:schemeClr val="bg1"/>
                </a:solidFill>
                <a:latin typeface="+mj-lt"/>
              </a:rPr>
              <a:t>Senior Product Manager, Principal Software Engineer, </a:t>
            </a:r>
            <a:r>
              <a:rPr lang="en-US" sz="1470" dirty="0">
                <a:solidFill>
                  <a:schemeClr val="bg1"/>
                </a:solidFill>
                <a:latin typeface="+mj-lt"/>
              </a:rPr>
              <a:t>and</a:t>
            </a:r>
            <a:r>
              <a:rPr lang="en-US" sz="1470" b="1" dirty="0">
                <a:solidFill>
                  <a:schemeClr val="bg1"/>
                </a:solidFill>
                <a:latin typeface="+mj-lt"/>
              </a:rPr>
              <a:t> Senior Software Development Engineer </a:t>
            </a:r>
            <a:r>
              <a:rPr lang="en-US" sz="1470" dirty="0">
                <a:solidFill>
                  <a:schemeClr val="bg1"/>
                </a:solidFill>
                <a:latin typeface="+mj-lt"/>
              </a:rPr>
              <a:t>are among the highest-paying roles in the dataset due to their advanced expertise and leadership requirements</a:t>
            </a:r>
            <a:r>
              <a:rPr lang="en-US" sz="1470" b="1" dirty="0">
                <a:solidFill>
                  <a:schemeClr val="bg1"/>
                </a:solidFill>
                <a:latin typeface="+mj-lt"/>
              </a:rPr>
              <a:t>.</a:t>
            </a:r>
          </a:p>
        </p:txBody>
      </p:sp>
      <p:pic>
        <p:nvPicPr>
          <p:cNvPr id="3" name="Picture 2">
            <a:extLst>
              <a:ext uri="{FF2B5EF4-FFF2-40B4-BE49-F238E27FC236}">
                <a16:creationId xmlns:a16="http://schemas.microsoft.com/office/drawing/2014/main" id="{A884E589-1820-D3B7-1638-7ACDC34E1FBF}"/>
              </a:ext>
            </a:extLst>
          </p:cNvPr>
          <p:cNvPicPr>
            <a:picLocks noChangeAspect="1"/>
          </p:cNvPicPr>
          <p:nvPr/>
        </p:nvPicPr>
        <p:blipFill>
          <a:blip r:embed="rId3"/>
          <a:stretch>
            <a:fillRect/>
          </a:stretch>
        </p:blipFill>
        <p:spPr>
          <a:xfrm>
            <a:off x="8853815" y="6111588"/>
            <a:ext cx="3338185" cy="72310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599" y="2997200"/>
            <a:ext cx="4741421"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a:t>
            </a:r>
          </a:p>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YOU</a:t>
            </a:r>
            <a:endParaRPr sz="1800" b="0" i="0" u="none" strike="noStrike" cap="none" dirty="0">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1947</TotalTime>
  <Words>1738</Words>
  <Application>Microsoft Office PowerPoint</Application>
  <PresentationFormat>Widescreen</PresentationFormat>
  <Paragraphs>328</Paragraphs>
  <Slides>23</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Libre Baskerville</vt:lpstr>
      <vt:lpstr>Times New Roman</vt:lpstr>
      <vt:lpstr>Wingdings</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SHREYA JOSHI</dc:creator>
  <cp:lastModifiedBy>Chintala Guru Preeth Reddy</cp:lastModifiedBy>
  <cp:revision>52</cp:revision>
  <dcterms:created xsi:type="dcterms:W3CDTF">2026-03-04T08:07:28Z</dcterms:created>
  <dcterms:modified xsi:type="dcterms:W3CDTF">2026-03-12T11:33:16Z</dcterms:modified>
</cp:coreProperties>
</file>